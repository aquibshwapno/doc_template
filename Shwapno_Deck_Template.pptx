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7"/>
  </p:notesMasterIdLst>
  <p:sldIdLst>
    <p:sldId id="256" r:id="rId2"/>
    <p:sldId id="306" r:id="rId3"/>
    <p:sldId id="258" r:id="rId5"/>
    <p:sldId id="259" r:id="rId6"/>
    <p:sldId id="260" r:id="rId7"/>
    <p:sldId id="261" r:id="rId8"/>
    <p:sldId id="265" r:id="rId12"/>
    <p:sldId id="266" r:id="rId13"/>
    <p:sldId id="269" r:id="rId16"/>
    <p:sldId id="273" r:id="rId20"/>
    <p:sldId id="276" r:id="rId23"/>
    <p:sldId id="279" r:id="rId26"/>
    <p:sldId id="280" r:id="rId27"/>
    <p:sldId id="281" r:id="rId28"/>
    <p:sldId id="305" r:id="rId34"/>
    <p:sldId id="4218" r:id="rId35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38"/>
      <p:bold r:id="rId39"/>
      <p:italic r:id="rId40"/>
      <p:boldItalic r:id="rId41"/>
    </p:embeddedFont>
    <p:embeddedFont>
      <p:font typeface="Poppins" panose="00000500000000000000" pitchFamily="2" charset="0"/>
      <p:regular r:id="rId42"/>
      <p:bold r:id="rId43"/>
      <p:italic r:id="rId44"/>
      <p:boldItalic r:id="rId45"/>
    </p:embeddedFont>
    <p:embeddedFont>
      <p:font typeface="Poppins Bold" panose="00000800000000000000" pitchFamily="2" charset="0"/>
      <p:bold r:id="rId46"/>
    </p:embeddedFont>
    <p:embeddedFont>
      <p:font typeface="Poppins ExtraLight" panose="020B0502040204020203" pitchFamily="2" charset="0"/>
      <p:regular r:id="rId47"/>
      <p:bold r:id="rId48"/>
      <p:italic r:id="rId49"/>
      <p:boldItalic r:id="rId50"/>
    </p:embeddedFont>
    <p:embeddedFont>
      <p:font typeface="Poppins Light" panose="020B0502040204020203" pitchFamily="2" charset="0"/>
      <p:regular r:id="rId51"/>
      <p:bold r:id="rId52"/>
      <p:italic r:id="rId53"/>
      <p:boldItalic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63" d="100"/>
          <a:sy n="163" d="100"/>
        </p:scale>
        <p:origin x="1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27" Type="http://schemas.openxmlformats.org/officeDocument/2006/relationships/slide" Target="slides/slide26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3175">
                <a:solidFill>
                  <a:sysClr val="windowText" lastClr="0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C00000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'Final 400 target for 25 26'!$C$74:$N$74</c:f>
              <c:strCache>
                <c:ptCount val="12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  <c:pt idx="10">
                  <c:v>May'26</c:v>
                </c:pt>
                <c:pt idx="11">
                  <c:v>Jun'26</c:v>
                </c:pt>
              </c:strCache>
            </c:strRef>
          </c:cat>
          <c:val>
            <c:numRef>
              <c:f>'Final 400 target for 25 26'!$C$75:$N$75</c:f>
              <c:numCache>
                <c:formatCode>General</c:formatCode>
                <c:ptCount val="12"/>
                <c:pt idx="0">
                  <c:v>25</c:v>
                </c:pt>
                <c:pt idx="1">
                  <c:v>30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40</c:v>
                </c:pt>
                <c:pt idx="6">
                  <c:v>40</c:v>
                </c:pt>
                <c:pt idx="7">
                  <c:v>23</c:v>
                </c:pt>
                <c:pt idx="8">
                  <c:v>34</c:v>
                </c:pt>
                <c:pt idx="9">
                  <c:v>40</c:v>
                </c:pt>
                <c:pt idx="10">
                  <c:v>29</c:v>
                </c:pt>
                <c:pt idx="11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17-4601-9AAA-102497AF38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79811072"/>
        <c:axId val="879811904"/>
      </c:lineChart>
      <c:catAx>
        <c:axId val="87981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C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879811904"/>
        <c:crosses val="autoZero"/>
        <c:auto val="1"/>
        <c:lblAlgn val="ctr"/>
        <c:lblOffset val="100"/>
        <c:noMultiLvlLbl val="0"/>
      </c:catAx>
      <c:valAx>
        <c:axId val="879811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9811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Sheet2!$A$19</c:f>
              <c:strCache>
                <c:ptCount val="1"/>
                <c:pt idx="0">
                  <c:v>Own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LT Com 55 Roman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Sheet2!$E$18:$G$18</c:f>
              <c:strCache>
                <c:ptCount val="3"/>
                <c:pt idx="0">
                  <c:v>FY 2023-24</c:v>
                </c:pt>
                <c:pt idx="1">
                  <c:v>FY 2024-25</c:v>
                </c:pt>
                <c:pt idx="2">
                  <c:v>FY 2025-26</c:v>
                </c:pt>
              </c:strCache>
              <c:extLst/>
            </c:strRef>
          </c:cat>
          <c:val>
            <c:numRef>
              <c:f>Sheet2!$E$19:$G$19</c:f>
              <c:numCache>
                <c:formatCode>_(* #,##0_);_(* \(#,##0\);_(* "-"??_);_(@_)</c:formatCode>
                <c:ptCount val="3"/>
                <c:pt idx="0" formatCode="General">
                  <c:v>86</c:v>
                </c:pt>
                <c:pt idx="1">
                  <c:v>82</c:v>
                </c:pt>
                <c:pt idx="2">
                  <c:v>90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8CE-418E-BB06-CF2008E31BFB}"/>
            </c:ext>
          </c:extLst>
        </c:ser>
        <c:ser>
          <c:idx val="1"/>
          <c:order val="1"/>
          <c:tx>
            <c:strRef>
              <c:f>Sheet2!$A$20</c:f>
              <c:strCache>
                <c:ptCount val="1"/>
                <c:pt idx="0">
                  <c:v>Franchise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LT Com 55 Roman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Sheet2!$E$18:$G$18</c:f>
              <c:strCache>
                <c:ptCount val="3"/>
                <c:pt idx="0">
                  <c:v>FY 2023-24</c:v>
                </c:pt>
                <c:pt idx="1">
                  <c:v>FY 2024-25</c:v>
                </c:pt>
                <c:pt idx="2">
                  <c:v>FY 2025-26</c:v>
                </c:pt>
              </c:strCache>
              <c:extLst/>
            </c:strRef>
          </c:cat>
          <c:val>
            <c:numRef>
              <c:f>Sheet2!$E$20:$G$20</c:f>
              <c:numCache>
                <c:formatCode>_(* #,##0_);_(* \(#,##0\);_(* "-"??_);_(@_)</c:formatCode>
                <c:ptCount val="3"/>
                <c:pt idx="0" formatCode="General">
                  <c:v>408</c:v>
                </c:pt>
                <c:pt idx="1">
                  <c:v>601</c:v>
                </c:pt>
                <c:pt idx="2">
                  <c:v>1001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8CE-418E-BB06-CF2008E31BF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9355808"/>
        <c:axId val="1119341248"/>
      </c:barChart>
      <c:catAx>
        <c:axId val="1119355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9341248"/>
        <c:crosses val="autoZero"/>
        <c:auto val="1"/>
        <c:lblAlgn val="ctr"/>
        <c:lblOffset val="100"/>
        <c:noMultiLvlLbl val="0"/>
      </c:catAx>
      <c:valAx>
        <c:axId val="1119341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935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1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02cf3bfe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6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2a02cf3bfe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9ec5ae603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6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e9ec5ae603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55355bd5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55355bd5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fa30c9c6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6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bfa30c9c6d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fa30c9c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fa30c9c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08e0e2e2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208e0e2e2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99a1a045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99a1a045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55355bd5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6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3355355bd5d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8015c8d56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8015c8d56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75d019c75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75d019c75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07e5208dda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07e5208dda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216f8dd626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216f8dd626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216f8dd62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216f8dd62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a49a9106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a49a9106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a65050bee5_4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a65050bee5_4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2525" tIns="92525" rIns="92525" bIns="92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2525" tIns="92525" rIns="92525" bIns="925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2525" tIns="92525" rIns="92525" bIns="92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2525" tIns="92525" rIns="92525" bIns="92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200"/>
              <a:buNone/>
              <a:defRPr sz="12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>
  <p:cSld name="CUSTOM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76300" y="1944525"/>
            <a:ext cx="8322600" cy="19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4"/>
          <p:cNvCxnSpPr/>
          <p:nvPr/>
        </p:nvCxnSpPr>
        <p:spPr>
          <a:xfrm>
            <a:off x="389238" y="741526"/>
            <a:ext cx="78570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89237" y="142353"/>
            <a:ext cx="7857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ndara"/>
              <a:buNone/>
              <a:defRPr>
                <a:latin typeface="Candara"/>
                <a:ea typeface="Candara"/>
                <a:cs typeface="Candara"/>
                <a:sym typeface="Canda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89237" y="859499"/>
            <a:ext cx="7857000" cy="3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CAD3"/>
              </a:buClr>
              <a:buSzPts val="1600"/>
              <a:buFont typeface="Arial"/>
              <a:buChar char="•"/>
              <a:defRPr sz="16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CAD3"/>
              </a:buClr>
              <a:buSzPts val="1600"/>
              <a:buFont typeface="Arial"/>
              <a:buChar char="•"/>
              <a:defRPr sz="16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CAD3"/>
              </a:buClr>
              <a:buSzPts val="1600"/>
              <a:buFont typeface="Arial"/>
              <a:buChar char="•"/>
              <a:defRPr sz="16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CAD3"/>
              </a:buClr>
              <a:buSzPts val="1600"/>
              <a:buFont typeface="Arial"/>
              <a:buChar char="•"/>
              <a:defRPr sz="16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CAD3"/>
              </a:buClr>
              <a:buSzPts val="1600"/>
              <a:buFont typeface="Arial"/>
              <a:buChar char="•"/>
              <a:defRPr sz="16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89237" y="4884674"/>
            <a:ext cx="7857000" cy="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1845" y="243058"/>
            <a:ext cx="482716" cy="23455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DD07-883D-43B9-8FE3-4AF54FA8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F06E-50C2-4D2B-B411-4B9F1C84D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0ABCE-7466-4F30-9E4B-E50C6008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BA80-C20B-4FAC-A657-0D045717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AC42-52E7-4AEE-8C2B-22CCF33F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5E95-8C87-4531-BA9A-439E29931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1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" Target="slide12.xm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openxmlformats.org/officeDocument/2006/relationships/hyperlink" Target="https://docs.google.com/presentation/d/1vGhbppIz9dHZV2ZBbf2-bw3vFBSG9ia9bP4okZc6Mls/edit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spreadsheets/d/1exonoliyjLGjClvz-AG4ESYY_OzwAs52AIea0IH9waw/edit?usp=sharing" TargetMode="External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3.png"/><Relationship Id="rId3" Type="http://schemas.openxmlformats.org/officeDocument/2006/relationships/image" Target="../media/image39.png"/><Relationship Id="rId21" Type="http://schemas.openxmlformats.org/officeDocument/2006/relationships/hyperlink" Target="https://docs.google.com/presentation/d/1vGhbppIz9dHZV2ZBbf2-bw3vFBSG9ia9bP4okZc6Mls/edit?usp=sharing" TargetMode="External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2.png"/><Relationship Id="rId25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hyperlink" Target="https://docs.google.com/spreadsheets/d/1exonoliyjLGjClvz-AG4ESYY_OzwAs52AIea0IH9waw/edit?usp=sharing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5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6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jpg"/><Relationship Id="rId5" Type="http://schemas.openxmlformats.org/officeDocument/2006/relationships/hyperlink" Target="https://docs.google.com/presentation/d/1vGhbppIz9dHZV2ZBbf2-bw3vFBSG9ia9bP4okZc6Mls/edit?usp=sharing" TargetMode="External"/><Relationship Id="rId4" Type="http://schemas.openxmlformats.org/officeDocument/2006/relationships/hyperlink" Target="https://docs.google.com/spreadsheets/d/1exonoliyjLGjClvz-AG4ESYY_OzwAs52AIea0IH9waw/edit?usp=shar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google.com/presentation/d/1vGhbppIz9dHZV2ZBbf2-bw3vFBSG9ia9bP4okZc6Mls/edit?usp=sharing" TargetMode="External"/><Relationship Id="rId5" Type="http://schemas.openxmlformats.org/officeDocument/2006/relationships/hyperlink" Target="https://docs.google.com/spreadsheets/d/1exonoliyjLGjClvz-AG4ESYY_OzwAs52AIea0IH9waw/edit?usp=sharing" TargetMode="Externa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hyperlink" Target="http://shwapno.app" TargetMode="External"/><Relationship Id="rId4" Type="http://schemas.openxmlformats.org/officeDocument/2006/relationships/hyperlink" Target="https://www.figma.com/proto/jHja3cI0rTWuBcMP5EbT1e/Audit?node-id=0-1&amp;fuid=1120589918511573507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27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exonoliyjLGjClvz-AG4ESYY_OzwAs52AIea0IH9waw/edit?usp=sharing" TargetMode="External"/><Relationship Id="rId3" Type="http://schemas.openxmlformats.org/officeDocument/2006/relationships/image" Target="../media/image2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hyperlink" Target="https://docs.google.com/presentation/d/1ZA3cwADgYEclzZkp5dfLYLvQRGb-V4USrPo7T3jli8w/edit?usp=shari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27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hyperlink" Target="https://docs.google.com/presentation/d/1ZA3cwADgYEclzZkp5dfLYLvQRGb-V4USrPo7T3jli8w/edit?usp=sharing" TargetMode="External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hyperlink" Target="https://docs.google.com/spreadsheets/d/1exonoliyjLGjClvz-AG4ESYY_OzwAs52AIea0IH9waw/edit?usp=sharing" TargetMode="External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exonoliyjLGjClvz-AG4ESYY_OzwAs52AIea0IH9waw/edit?usp=sharing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9.png"/><Relationship Id="rId5" Type="http://schemas.openxmlformats.org/officeDocument/2006/relationships/image" Target="../media/image27.png"/><Relationship Id="rId4" Type="http://schemas.openxmlformats.org/officeDocument/2006/relationships/hyperlink" Target="https://docs.google.com/spreadsheets/d/12yPhenOieDM4dU1yj2sJ35M23l3cozf2SA_zHp2-f7s/edit?usp=sharing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-29475" y="4300275"/>
            <a:ext cx="9183300" cy="2697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-29475" y="4030575"/>
            <a:ext cx="9183300" cy="26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385550" y="0"/>
            <a:ext cx="5704500" cy="40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Roadmap</a:t>
            </a:r>
            <a:endParaRPr sz="3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March 2026</a:t>
            </a:r>
            <a:endParaRPr sz="900">
              <a:solidFill>
                <a:schemeClr val="dk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6604593" y="2533272"/>
            <a:ext cx="1727120" cy="1465347"/>
            <a:chOff x="4900787" y="1689625"/>
            <a:chExt cx="1682861" cy="1465347"/>
          </a:xfrm>
        </p:grpSpPr>
        <p:sp>
          <p:nvSpPr>
            <p:cNvPr id="68" name="Google Shape;68;p15"/>
            <p:cNvSpPr/>
            <p:nvPr/>
          </p:nvSpPr>
          <p:spPr>
            <a:xfrm rot="10800000" flipH="1">
              <a:off x="5481501" y="2791155"/>
              <a:ext cx="522244" cy="272979"/>
            </a:xfrm>
            <a:custGeom>
              <a:avLst/>
              <a:gdLst/>
              <a:ahLst/>
              <a:cxnLst/>
              <a:rect l="l" t="t" r="r" b="b"/>
              <a:pathLst>
                <a:path w="22918" h="9574" extrusionOk="0">
                  <a:moveTo>
                    <a:pt x="1" y="0"/>
                  </a:moveTo>
                  <a:lnTo>
                    <a:pt x="1" y="9574"/>
                  </a:lnTo>
                  <a:lnTo>
                    <a:pt x="22917" y="9574"/>
                  </a:lnTo>
                  <a:lnTo>
                    <a:pt x="22917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91919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4900787" y="1689625"/>
              <a:ext cx="1682173" cy="1177453"/>
            </a:xfrm>
            <a:custGeom>
              <a:avLst/>
              <a:gdLst/>
              <a:ahLst/>
              <a:cxnLst/>
              <a:rect l="l" t="t" r="r" b="b"/>
              <a:pathLst>
                <a:path w="73820" h="51671" extrusionOk="0">
                  <a:moveTo>
                    <a:pt x="7206" y="1"/>
                  </a:moveTo>
                  <a:cubicBezTo>
                    <a:pt x="3236" y="1"/>
                    <a:pt x="0" y="3203"/>
                    <a:pt x="0" y="7172"/>
                  </a:cubicBezTo>
                  <a:lnTo>
                    <a:pt x="0" y="44499"/>
                  </a:lnTo>
                  <a:cubicBezTo>
                    <a:pt x="0" y="48469"/>
                    <a:pt x="3236" y="51671"/>
                    <a:pt x="7206" y="51671"/>
                  </a:cubicBezTo>
                  <a:lnTo>
                    <a:pt x="66648" y="51671"/>
                  </a:lnTo>
                  <a:cubicBezTo>
                    <a:pt x="70617" y="51671"/>
                    <a:pt x="73820" y="48469"/>
                    <a:pt x="73820" y="44499"/>
                  </a:cubicBezTo>
                  <a:lnTo>
                    <a:pt x="73820" y="7172"/>
                  </a:lnTo>
                  <a:cubicBezTo>
                    <a:pt x="73820" y="3203"/>
                    <a:pt x="70617" y="1"/>
                    <a:pt x="66648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901475" y="1689625"/>
              <a:ext cx="1682173" cy="1014044"/>
            </a:xfrm>
            <a:custGeom>
              <a:avLst/>
              <a:gdLst/>
              <a:ahLst/>
              <a:cxnLst/>
              <a:rect l="l" t="t" r="r" b="b"/>
              <a:pathLst>
                <a:path w="73820" h="44500" extrusionOk="0">
                  <a:moveTo>
                    <a:pt x="7206" y="1"/>
                  </a:moveTo>
                  <a:cubicBezTo>
                    <a:pt x="3236" y="1"/>
                    <a:pt x="0" y="3203"/>
                    <a:pt x="0" y="7172"/>
                  </a:cubicBezTo>
                  <a:lnTo>
                    <a:pt x="0" y="44499"/>
                  </a:lnTo>
                  <a:lnTo>
                    <a:pt x="73820" y="44499"/>
                  </a:lnTo>
                  <a:lnTo>
                    <a:pt x="73820" y="7172"/>
                  </a:lnTo>
                  <a:cubicBezTo>
                    <a:pt x="73820" y="3203"/>
                    <a:pt x="70617" y="1"/>
                    <a:pt x="666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4901475" y="1689625"/>
              <a:ext cx="1682173" cy="1014044"/>
            </a:xfrm>
            <a:custGeom>
              <a:avLst/>
              <a:gdLst/>
              <a:ahLst/>
              <a:cxnLst/>
              <a:rect l="l" t="t" r="r" b="b"/>
              <a:pathLst>
                <a:path w="73820" h="44500" extrusionOk="0">
                  <a:moveTo>
                    <a:pt x="66648" y="2136"/>
                  </a:moveTo>
                  <a:cubicBezTo>
                    <a:pt x="69417" y="2136"/>
                    <a:pt x="71685" y="4404"/>
                    <a:pt x="71685" y="7172"/>
                  </a:cubicBezTo>
                  <a:lnTo>
                    <a:pt x="71685" y="42331"/>
                  </a:lnTo>
                  <a:lnTo>
                    <a:pt x="2169" y="42331"/>
                  </a:lnTo>
                  <a:lnTo>
                    <a:pt x="2169" y="7172"/>
                  </a:lnTo>
                  <a:cubicBezTo>
                    <a:pt x="2169" y="4404"/>
                    <a:pt x="4437" y="2136"/>
                    <a:pt x="7206" y="2136"/>
                  </a:cubicBezTo>
                  <a:close/>
                  <a:moveTo>
                    <a:pt x="7206" y="1"/>
                  </a:moveTo>
                  <a:cubicBezTo>
                    <a:pt x="3236" y="1"/>
                    <a:pt x="0" y="3203"/>
                    <a:pt x="0" y="7172"/>
                  </a:cubicBezTo>
                  <a:lnTo>
                    <a:pt x="0" y="44499"/>
                  </a:lnTo>
                  <a:lnTo>
                    <a:pt x="73820" y="44499"/>
                  </a:lnTo>
                  <a:lnTo>
                    <a:pt x="73820" y="7172"/>
                  </a:lnTo>
                  <a:cubicBezTo>
                    <a:pt x="73820" y="3203"/>
                    <a:pt x="70617" y="1"/>
                    <a:pt x="66648" y="1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105573" y="3064132"/>
              <a:ext cx="1237663" cy="90840"/>
            </a:xfrm>
            <a:custGeom>
              <a:avLst/>
              <a:gdLst/>
              <a:ahLst/>
              <a:cxnLst/>
              <a:rect l="l" t="t" r="r" b="b"/>
              <a:pathLst>
                <a:path w="40397" h="2670" extrusionOk="0">
                  <a:moveTo>
                    <a:pt x="1" y="1"/>
                  </a:moveTo>
                  <a:lnTo>
                    <a:pt x="1" y="2669"/>
                  </a:lnTo>
                  <a:lnTo>
                    <a:pt x="40396" y="2669"/>
                  </a:lnTo>
                  <a:lnTo>
                    <a:pt x="40396" y="1"/>
                  </a:ln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711087" y="2756944"/>
              <a:ext cx="61595" cy="61572"/>
            </a:xfrm>
            <a:custGeom>
              <a:avLst/>
              <a:gdLst/>
              <a:ahLst/>
              <a:cxnLst/>
              <a:rect l="l" t="t" r="r" b="b"/>
              <a:pathLst>
                <a:path w="2703" h="2702" extrusionOk="0">
                  <a:moveTo>
                    <a:pt x="1335" y="0"/>
                  </a:moveTo>
                  <a:cubicBezTo>
                    <a:pt x="601" y="0"/>
                    <a:pt x="1" y="634"/>
                    <a:pt x="1" y="1368"/>
                  </a:cubicBezTo>
                  <a:cubicBezTo>
                    <a:pt x="1" y="2102"/>
                    <a:pt x="601" y="2702"/>
                    <a:pt x="1335" y="2702"/>
                  </a:cubicBezTo>
                  <a:cubicBezTo>
                    <a:pt x="2069" y="2702"/>
                    <a:pt x="2703" y="2102"/>
                    <a:pt x="2703" y="1368"/>
                  </a:cubicBezTo>
                  <a:cubicBezTo>
                    <a:pt x="2703" y="634"/>
                    <a:pt x="2069" y="33"/>
                    <a:pt x="1335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6963922" y="2663583"/>
            <a:ext cx="1008024" cy="795359"/>
            <a:chOff x="7121713" y="1794361"/>
            <a:chExt cx="982193" cy="795359"/>
          </a:xfrm>
        </p:grpSpPr>
        <p:sp>
          <p:nvSpPr>
            <p:cNvPr id="75" name="Google Shape;75;p15"/>
            <p:cNvSpPr/>
            <p:nvPr/>
          </p:nvSpPr>
          <p:spPr>
            <a:xfrm>
              <a:off x="7121713" y="2487086"/>
              <a:ext cx="982096" cy="102635"/>
            </a:xfrm>
            <a:custGeom>
              <a:avLst/>
              <a:gdLst/>
              <a:ahLst/>
              <a:cxnLst/>
              <a:rect l="l" t="t" r="r" b="b"/>
              <a:pathLst>
                <a:path w="43098" h="4504" extrusionOk="0">
                  <a:moveTo>
                    <a:pt x="21549" y="0"/>
                  </a:moveTo>
                  <a:cubicBezTo>
                    <a:pt x="9640" y="0"/>
                    <a:pt x="0" y="1001"/>
                    <a:pt x="0" y="2235"/>
                  </a:cubicBezTo>
                  <a:cubicBezTo>
                    <a:pt x="0" y="3470"/>
                    <a:pt x="9640" y="4504"/>
                    <a:pt x="21549" y="4504"/>
                  </a:cubicBezTo>
                  <a:cubicBezTo>
                    <a:pt x="33457" y="4504"/>
                    <a:pt x="43097" y="3470"/>
                    <a:pt x="43097" y="2235"/>
                  </a:cubicBezTo>
                  <a:cubicBezTo>
                    <a:pt x="43097" y="1001"/>
                    <a:pt x="33457" y="0"/>
                    <a:pt x="21549" y="0"/>
                  </a:cubicBezTo>
                  <a:close/>
                </a:path>
              </a:pathLst>
            </a:custGeom>
            <a:solidFill>
              <a:srgbClr val="142743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198492" y="1943526"/>
              <a:ext cx="827027" cy="548085"/>
            </a:xfrm>
            <a:custGeom>
              <a:avLst/>
              <a:gdLst/>
              <a:ahLst/>
              <a:cxnLst/>
              <a:rect l="l" t="t" r="r" b="b"/>
              <a:pathLst>
                <a:path w="36293" h="24052" extrusionOk="0">
                  <a:moveTo>
                    <a:pt x="0" y="1"/>
                  </a:moveTo>
                  <a:lnTo>
                    <a:pt x="0" y="24052"/>
                  </a:lnTo>
                  <a:lnTo>
                    <a:pt x="36293" y="24052"/>
                  </a:lnTo>
                  <a:lnTo>
                    <a:pt x="36293" y="1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266133" y="2097859"/>
              <a:ext cx="431026" cy="332948"/>
            </a:xfrm>
            <a:custGeom>
              <a:avLst/>
              <a:gdLst/>
              <a:ahLst/>
              <a:cxnLst/>
              <a:rect l="l" t="t" r="r" b="b"/>
              <a:pathLst>
                <a:path w="18915" h="14611" extrusionOk="0">
                  <a:moveTo>
                    <a:pt x="1" y="0"/>
                  </a:moveTo>
                  <a:lnTo>
                    <a:pt x="1" y="14611"/>
                  </a:lnTo>
                  <a:lnTo>
                    <a:pt x="18914" y="14611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7285140" y="2116865"/>
              <a:ext cx="393016" cy="294939"/>
            </a:xfrm>
            <a:custGeom>
              <a:avLst/>
              <a:gdLst/>
              <a:ahLst/>
              <a:cxnLst/>
              <a:rect l="l" t="t" r="r" b="b"/>
              <a:pathLst>
                <a:path w="17247" h="12943" extrusionOk="0">
                  <a:moveTo>
                    <a:pt x="1" y="0"/>
                  </a:moveTo>
                  <a:lnTo>
                    <a:pt x="1" y="12943"/>
                  </a:lnTo>
                  <a:lnTo>
                    <a:pt x="17246" y="12943"/>
                  </a:lnTo>
                  <a:lnTo>
                    <a:pt x="17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7304146" y="2136624"/>
              <a:ext cx="355006" cy="256200"/>
            </a:xfrm>
            <a:custGeom>
              <a:avLst/>
              <a:gdLst/>
              <a:ahLst/>
              <a:cxnLst/>
              <a:rect l="l" t="t" r="r" b="b"/>
              <a:pathLst>
                <a:path w="15579" h="11243" extrusionOk="0">
                  <a:moveTo>
                    <a:pt x="1" y="1"/>
                  </a:moveTo>
                  <a:lnTo>
                    <a:pt x="1" y="11242"/>
                  </a:lnTo>
                  <a:lnTo>
                    <a:pt x="15579" y="11242"/>
                  </a:lnTo>
                  <a:lnTo>
                    <a:pt x="15579" y="1"/>
                  </a:lnTo>
                  <a:close/>
                </a:path>
              </a:pathLst>
            </a:custGeom>
            <a:solidFill>
              <a:srgbClr val="C7372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7292752" y="2264338"/>
              <a:ext cx="377794" cy="23"/>
            </a:xfrm>
            <a:custGeom>
              <a:avLst/>
              <a:gdLst/>
              <a:ahLst/>
              <a:cxnLst/>
              <a:rect l="l" t="t" r="r" b="b"/>
              <a:pathLst>
                <a:path w="16579" h="1" fill="none" extrusionOk="0">
                  <a:moveTo>
                    <a:pt x="16579" y="1"/>
                  </a:moveTo>
                  <a:lnTo>
                    <a:pt x="0" y="1"/>
                  </a:lnTo>
                </a:path>
              </a:pathLst>
            </a:custGeom>
            <a:noFill/>
            <a:ln w="1085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580110" y="2105471"/>
              <a:ext cx="23" cy="301023"/>
            </a:xfrm>
            <a:custGeom>
              <a:avLst/>
              <a:gdLst/>
              <a:ahLst/>
              <a:cxnLst/>
              <a:rect l="l" t="t" r="r" b="b"/>
              <a:pathLst>
                <a:path w="1" h="13210" fill="none" extrusionOk="0">
                  <a:moveTo>
                    <a:pt x="0" y="13210"/>
                  </a:moveTo>
                  <a:lnTo>
                    <a:pt x="0" y="0"/>
                  </a:lnTo>
                </a:path>
              </a:pathLst>
            </a:custGeom>
            <a:noFill/>
            <a:ln w="1085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7481270" y="2105471"/>
              <a:ext cx="23" cy="301023"/>
            </a:xfrm>
            <a:custGeom>
              <a:avLst/>
              <a:gdLst/>
              <a:ahLst/>
              <a:cxnLst/>
              <a:rect l="l" t="t" r="r" b="b"/>
              <a:pathLst>
                <a:path w="1" h="13210" fill="none" extrusionOk="0">
                  <a:moveTo>
                    <a:pt x="1" y="13210"/>
                  </a:moveTo>
                  <a:lnTo>
                    <a:pt x="1" y="0"/>
                  </a:lnTo>
                </a:path>
              </a:pathLst>
            </a:custGeom>
            <a:noFill/>
            <a:ln w="1085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7198492" y="2411834"/>
              <a:ext cx="827027" cy="79825"/>
            </a:xfrm>
            <a:custGeom>
              <a:avLst/>
              <a:gdLst/>
              <a:ahLst/>
              <a:cxnLst/>
              <a:rect l="l" t="t" r="r" b="b"/>
              <a:pathLst>
                <a:path w="36293" h="3503" extrusionOk="0">
                  <a:moveTo>
                    <a:pt x="0" y="0"/>
                  </a:moveTo>
                  <a:lnTo>
                    <a:pt x="0" y="3503"/>
                  </a:lnTo>
                  <a:lnTo>
                    <a:pt x="36293" y="3503"/>
                  </a:lnTo>
                  <a:lnTo>
                    <a:pt x="36293" y="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723025" y="2059845"/>
              <a:ext cx="224252" cy="431778"/>
            </a:xfrm>
            <a:custGeom>
              <a:avLst/>
              <a:gdLst/>
              <a:ahLst/>
              <a:cxnLst/>
              <a:rect l="l" t="t" r="r" b="b"/>
              <a:pathLst>
                <a:path w="9841" h="18948" extrusionOk="0">
                  <a:moveTo>
                    <a:pt x="1" y="1"/>
                  </a:moveTo>
                  <a:lnTo>
                    <a:pt x="1" y="18948"/>
                  </a:lnTo>
                  <a:lnTo>
                    <a:pt x="9841" y="18948"/>
                  </a:lnTo>
                  <a:lnTo>
                    <a:pt x="9841" y="1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743559" y="2052256"/>
              <a:ext cx="183212" cy="440118"/>
            </a:xfrm>
            <a:custGeom>
              <a:avLst/>
              <a:gdLst/>
              <a:ahLst/>
              <a:cxnLst/>
              <a:rect l="l" t="t" r="r" b="b"/>
              <a:pathLst>
                <a:path w="8040" h="19314" extrusionOk="0">
                  <a:moveTo>
                    <a:pt x="0" y="0"/>
                  </a:moveTo>
                  <a:lnTo>
                    <a:pt x="0" y="19314"/>
                  </a:lnTo>
                  <a:lnTo>
                    <a:pt x="8039" y="19314"/>
                  </a:lnTo>
                  <a:lnTo>
                    <a:pt x="80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762566" y="2071240"/>
              <a:ext cx="145202" cy="401379"/>
            </a:xfrm>
            <a:custGeom>
              <a:avLst/>
              <a:gdLst/>
              <a:ahLst/>
              <a:cxnLst/>
              <a:rect l="l" t="t" r="r" b="b"/>
              <a:pathLst>
                <a:path w="6372" h="17614" extrusionOk="0">
                  <a:moveTo>
                    <a:pt x="0" y="1"/>
                  </a:moveTo>
                  <a:lnTo>
                    <a:pt x="0" y="17614"/>
                  </a:lnTo>
                  <a:lnTo>
                    <a:pt x="6371" y="17614"/>
                  </a:lnTo>
                  <a:lnTo>
                    <a:pt x="6371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7198492" y="2188311"/>
              <a:ext cx="828554" cy="60843"/>
            </a:xfrm>
            <a:custGeom>
              <a:avLst/>
              <a:gdLst/>
              <a:ahLst/>
              <a:cxnLst/>
              <a:rect l="l" t="t" r="r" b="b"/>
              <a:pathLst>
                <a:path w="36360" h="2670" extrusionOk="0">
                  <a:moveTo>
                    <a:pt x="0" y="1"/>
                  </a:moveTo>
                  <a:lnTo>
                    <a:pt x="0" y="2303"/>
                  </a:lnTo>
                  <a:cubicBezTo>
                    <a:pt x="267" y="2536"/>
                    <a:pt x="567" y="2670"/>
                    <a:pt x="934" y="2670"/>
                  </a:cubicBezTo>
                  <a:cubicBezTo>
                    <a:pt x="1735" y="2670"/>
                    <a:pt x="2368" y="2036"/>
                    <a:pt x="2368" y="1235"/>
                  </a:cubicBezTo>
                  <a:cubicBezTo>
                    <a:pt x="2368" y="2036"/>
                    <a:pt x="3036" y="2670"/>
                    <a:pt x="3803" y="2670"/>
                  </a:cubicBezTo>
                  <a:cubicBezTo>
                    <a:pt x="4603" y="2670"/>
                    <a:pt x="5271" y="2036"/>
                    <a:pt x="5271" y="1235"/>
                  </a:cubicBezTo>
                  <a:cubicBezTo>
                    <a:pt x="5271" y="2036"/>
                    <a:pt x="5904" y="2670"/>
                    <a:pt x="6705" y="2670"/>
                  </a:cubicBezTo>
                  <a:cubicBezTo>
                    <a:pt x="7472" y="2670"/>
                    <a:pt x="8139" y="2036"/>
                    <a:pt x="8139" y="1235"/>
                  </a:cubicBezTo>
                  <a:cubicBezTo>
                    <a:pt x="8139" y="2036"/>
                    <a:pt x="8773" y="2670"/>
                    <a:pt x="9574" y="2670"/>
                  </a:cubicBezTo>
                  <a:cubicBezTo>
                    <a:pt x="10374" y="2670"/>
                    <a:pt x="11008" y="2036"/>
                    <a:pt x="11008" y="1235"/>
                  </a:cubicBezTo>
                  <a:cubicBezTo>
                    <a:pt x="11008" y="2036"/>
                    <a:pt x="11642" y="2670"/>
                    <a:pt x="12442" y="2670"/>
                  </a:cubicBezTo>
                  <a:cubicBezTo>
                    <a:pt x="13243" y="2670"/>
                    <a:pt x="13877" y="2036"/>
                    <a:pt x="13877" y="1235"/>
                  </a:cubicBezTo>
                  <a:cubicBezTo>
                    <a:pt x="13877" y="2036"/>
                    <a:pt x="14544" y="2670"/>
                    <a:pt x="15311" y="2670"/>
                  </a:cubicBezTo>
                  <a:cubicBezTo>
                    <a:pt x="16112" y="2670"/>
                    <a:pt x="16779" y="2036"/>
                    <a:pt x="16779" y="1235"/>
                  </a:cubicBezTo>
                  <a:cubicBezTo>
                    <a:pt x="16779" y="2036"/>
                    <a:pt x="17413" y="2670"/>
                    <a:pt x="18213" y="2670"/>
                  </a:cubicBezTo>
                  <a:cubicBezTo>
                    <a:pt x="18980" y="2670"/>
                    <a:pt x="19647" y="2036"/>
                    <a:pt x="19647" y="1235"/>
                  </a:cubicBezTo>
                  <a:cubicBezTo>
                    <a:pt x="19647" y="2036"/>
                    <a:pt x="20281" y="2670"/>
                    <a:pt x="21082" y="2670"/>
                  </a:cubicBezTo>
                  <a:cubicBezTo>
                    <a:pt x="21882" y="2670"/>
                    <a:pt x="22516" y="2036"/>
                    <a:pt x="22516" y="1235"/>
                  </a:cubicBezTo>
                  <a:cubicBezTo>
                    <a:pt x="22516" y="2036"/>
                    <a:pt x="23150" y="2670"/>
                    <a:pt x="23951" y="2670"/>
                  </a:cubicBezTo>
                  <a:cubicBezTo>
                    <a:pt x="24751" y="2670"/>
                    <a:pt x="25385" y="2036"/>
                    <a:pt x="25385" y="1235"/>
                  </a:cubicBezTo>
                  <a:cubicBezTo>
                    <a:pt x="25385" y="2036"/>
                    <a:pt x="26052" y="2670"/>
                    <a:pt x="26819" y="2670"/>
                  </a:cubicBezTo>
                  <a:cubicBezTo>
                    <a:pt x="27620" y="2670"/>
                    <a:pt x="28254" y="2036"/>
                    <a:pt x="28254" y="1235"/>
                  </a:cubicBezTo>
                  <a:cubicBezTo>
                    <a:pt x="28254" y="2036"/>
                    <a:pt x="28921" y="2670"/>
                    <a:pt x="29721" y="2670"/>
                  </a:cubicBezTo>
                  <a:cubicBezTo>
                    <a:pt x="30489" y="2670"/>
                    <a:pt x="31156" y="2036"/>
                    <a:pt x="31156" y="1235"/>
                  </a:cubicBezTo>
                  <a:cubicBezTo>
                    <a:pt x="31156" y="2036"/>
                    <a:pt x="31789" y="2670"/>
                    <a:pt x="32590" y="2670"/>
                  </a:cubicBezTo>
                  <a:cubicBezTo>
                    <a:pt x="33391" y="2670"/>
                    <a:pt x="34024" y="2036"/>
                    <a:pt x="34024" y="1235"/>
                  </a:cubicBezTo>
                  <a:cubicBezTo>
                    <a:pt x="34024" y="2036"/>
                    <a:pt x="34658" y="2670"/>
                    <a:pt x="35459" y="2670"/>
                  </a:cubicBezTo>
                  <a:cubicBezTo>
                    <a:pt x="35792" y="2670"/>
                    <a:pt x="36093" y="2536"/>
                    <a:pt x="36359" y="2369"/>
                  </a:cubicBezTo>
                  <a:lnTo>
                    <a:pt x="36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743559" y="2286399"/>
              <a:ext cx="183212" cy="38010"/>
            </a:xfrm>
            <a:custGeom>
              <a:avLst/>
              <a:gdLst/>
              <a:ahLst/>
              <a:cxnLst/>
              <a:rect l="l" t="t" r="r" b="b"/>
              <a:pathLst>
                <a:path w="8040" h="1668" extrusionOk="0">
                  <a:moveTo>
                    <a:pt x="0" y="0"/>
                  </a:moveTo>
                  <a:lnTo>
                    <a:pt x="0" y="1668"/>
                  </a:lnTo>
                  <a:lnTo>
                    <a:pt x="8039" y="1668"/>
                  </a:lnTo>
                  <a:lnTo>
                    <a:pt x="803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754954" y="2300073"/>
              <a:ext cx="47147" cy="8386"/>
            </a:xfrm>
            <a:custGeom>
              <a:avLst/>
              <a:gdLst/>
              <a:ahLst/>
              <a:cxnLst/>
              <a:rect l="l" t="t" r="r" b="b"/>
              <a:pathLst>
                <a:path w="2069" h="368" extrusionOk="0">
                  <a:moveTo>
                    <a:pt x="201" y="0"/>
                  </a:moveTo>
                  <a:cubicBezTo>
                    <a:pt x="101" y="0"/>
                    <a:pt x="1" y="67"/>
                    <a:pt x="1" y="201"/>
                  </a:cubicBezTo>
                  <a:cubicBezTo>
                    <a:pt x="1" y="301"/>
                    <a:pt x="101" y="367"/>
                    <a:pt x="201" y="367"/>
                  </a:cubicBezTo>
                  <a:lnTo>
                    <a:pt x="1869" y="367"/>
                  </a:lnTo>
                  <a:cubicBezTo>
                    <a:pt x="1969" y="367"/>
                    <a:pt x="2069" y="301"/>
                    <a:pt x="2069" y="201"/>
                  </a:cubicBezTo>
                  <a:cubicBezTo>
                    <a:pt x="2069" y="67"/>
                    <a:pt x="1969" y="0"/>
                    <a:pt x="1869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198492" y="1972424"/>
              <a:ext cx="827027" cy="68431"/>
            </a:xfrm>
            <a:custGeom>
              <a:avLst/>
              <a:gdLst/>
              <a:ahLst/>
              <a:cxnLst/>
              <a:rect l="l" t="t" r="r" b="b"/>
              <a:pathLst>
                <a:path w="36293" h="3003" extrusionOk="0">
                  <a:moveTo>
                    <a:pt x="0" y="1"/>
                  </a:moveTo>
                  <a:lnTo>
                    <a:pt x="0" y="3003"/>
                  </a:lnTo>
                  <a:lnTo>
                    <a:pt x="36293" y="3003"/>
                  </a:lnTo>
                  <a:lnTo>
                    <a:pt x="36293" y="1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7175680" y="1943526"/>
              <a:ext cx="872647" cy="80599"/>
            </a:xfrm>
            <a:custGeom>
              <a:avLst/>
              <a:gdLst/>
              <a:ahLst/>
              <a:cxnLst/>
              <a:rect l="l" t="t" r="r" b="b"/>
              <a:pathLst>
                <a:path w="38295" h="3537" extrusionOk="0">
                  <a:moveTo>
                    <a:pt x="0" y="1"/>
                  </a:moveTo>
                  <a:lnTo>
                    <a:pt x="0" y="3537"/>
                  </a:lnTo>
                  <a:lnTo>
                    <a:pt x="38294" y="3537"/>
                  </a:lnTo>
                  <a:lnTo>
                    <a:pt x="38294" y="1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7121713" y="2052256"/>
              <a:ext cx="980569" cy="106440"/>
            </a:xfrm>
            <a:custGeom>
              <a:avLst/>
              <a:gdLst/>
              <a:ahLst/>
              <a:cxnLst/>
              <a:rect l="l" t="t" r="r" b="b"/>
              <a:pathLst>
                <a:path w="43031" h="4671" extrusionOk="0">
                  <a:moveTo>
                    <a:pt x="6104" y="0"/>
                  </a:moveTo>
                  <a:lnTo>
                    <a:pt x="0" y="4670"/>
                  </a:lnTo>
                  <a:lnTo>
                    <a:pt x="43031" y="4670"/>
                  </a:lnTo>
                  <a:lnTo>
                    <a:pt x="36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916124" y="2052256"/>
              <a:ext cx="186242" cy="106440"/>
            </a:xfrm>
            <a:custGeom>
              <a:avLst/>
              <a:gdLst/>
              <a:ahLst/>
              <a:cxnLst/>
              <a:rect l="l" t="t" r="r" b="b"/>
              <a:pathLst>
                <a:path w="8173" h="4671" extrusionOk="0">
                  <a:moveTo>
                    <a:pt x="0" y="0"/>
                  </a:moveTo>
                  <a:lnTo>
                    <a:pt x="5304" y="4670"/>
                  </a:lnTo>
                  <a:lnTo>
                    <a:pt x="8173" y="4670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7822617" y="2052256"/>
              <a:ext cx="149007" cy="106440"/>
            </a:xfrm>
            <a:custGeom>
              <a:avLst/>
              <a:gdLst/>
              <a:ahLst/>
              <a:cxnLst/>
              <a:rect l="l" t="t" r="r" b="b"/>
              <a:pathLst>
                <a:path w="6539" h="4671" extrusionOk="0">
                  <a:moveTo>
                    <a:pt x="0" y="0"/>
                  </a:moveTo>
                  <a:lnTo>
                    <a:pt x="3670" y="4670"/>
                  </a:lnTo>
                  <a:lnTo>
                    <a:pt x="6538" y="4670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7729110" y="2052256"/>
              <a:ext cx="111750" cy="106440"/>
            </a:xfrm>
            <a:custGeom>
              <a:avLst/>
              <a:gdLst/>
              <a:ahLst/>
              <a:cxnLst/>
              <a:rect l="l" t="t" r="r" b="b"/>
              <a:pathLst>
                <a:path w="4904" h="4671" extrusionOk="0">
                  <a:moveTo>
                    <a:pt x="0" y="0"/>
                  </a:moveTo>
                  <a:lnTo>
                    <a:pt x="2035" y="4670"/>
                  </a:lnTo>
                  <a:lnTo>
                    <a:pt x="4904" y="4670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635603" y="2052256"/>
              <a:ext cx="74515" cy="106440"/>
            </a:xfrm>
            <a:custGeom>
              <a:avLst/>
              <a:gdLst/>
              <a:ahLst/>
              <a:cxnLst/>
              <a:rect l="l" t="t" r="r" b="b"/>
              <a:pathLst>
                <a:path w="3270" h="4671" extrusionOk="0">
                  <a:moveTo>
                    <a:pt x="0" y="0"/>
                  </a:moveTo>
                  <a:lnTo>
                    <a:pt x="401" y="4670"/>
                  </a:lnTo>
                  <a:lnTo>
                    <a:pt x="3269" y="4670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513973" y="2052256"/>
              <a:ext cx="74515" cy="106440"/>
            </a:xfrm>
            <a:custGeom>
              <a:avLst/>
              <a:gdLst/>
              <a:ahLst/>
              <a:cxnLst/>
              <a:rect l="l" t="t" r="r" b="b"/>
              <a:pathLst>
                <a:path w="3270" h="4671" extrusionOk="0">
                  <a:moveTo>
                    <a:pt x="1235" y="0"/>
                  </a:moveTo>
                  <a:lnTo>
                    <a:pt x="0" y="4670"/>
                  </a:lnTo>
                  <a:lnTo>
                    <a:pt x="2869" y="4670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7383205" y="2052256"/>
              <a:ext cx="111773" cy="106440"/>
            </a:xfrm>
            <a:custGeom>
              <a:avLst/>
              <a:gdLst/>
              <a:ahLst/>
              <a:cxnLst/>
              <a:rect l="l" t="t" r="r" b="b"/>
              <a:pathLst>
                <a:path w="4905" h="4671" extrusionOk="0">
                  <a:moveTo>
                    <a:pt x="2870" y="0"/>
                  </a:moveTo>
                  <a:lnTo>
                    <a:pt x="1" y="4670"/>
                  </a:lnTo>
                  <a:lnTo>
                    <a:pt x="2870" y="467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383205" y="2158685"/>
              <a:ext cx="65400" cy="60068"/>
            </a:xfrm>
            <a:custGeom>
              <a:avLst/>
              <a:gdLst/>
              <a:ahLst/>
              <a:cxnLst/>
              <a:rect l="l" t="t" r="r" b="b"/>
              <a:pathLst>
                <a:path w="2870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68" y="2635"/>
                    <a:pt x="1435" y="2635"/>
                  </a:cubicBezTo>
                  <a:cubicBezTo>
                    <a:pt x="2236" y="2635"/>
                    <a:pt x="2870" y="2001"/>
                    <a:pt x="2870" y="1201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7448589" y="2158685"/>
              <a:ext cx="66152" cy="60068"/>
            </a:xfrm>
            <a:custGeom>
              <a:avLst/>
              <a:gdLst/>
              <a:ahLst/>
              <a:cxnLst/>
              <a:rect l="l" t="t" r="r" b="b"/>
              <a:pathLst>
                <a:path w="2903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68" y="2635"/>
                    <a:pt x="1435" y="2635"/>
                  </a:cubicBezTo>
                  <a:cubicBezTo>
                    <a:pt x="2236" y="2635"/>
                    <a:pt x="2903" y="2001"/>
                    <a:pt x="2903" y="1201"/>
                  </a:cubicBezTo>
                  <a:lnTo>
                    <a:pt x="2869" y="1201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7513973" y="2122556"/>
              <a:ext cx="66152" cy="60068"/>
            </a:xfrm>
            <a:custGeom>
              <a:avLst/>
              <a:gdLst/>
              <a:ahLst/>
              <a:cxnLst/>
              <a:rect l="l" t="t" r="r" b="b"/>
              <a:pathLst>
                <a:path w="2903" h="2636" extrusionOk="0">
                  <a:moveTo>
                    <a:pt x="0" y="0"/>
                  </a:moveTo>
                  <a:lnTo>
                    <a:pt x="0" y="1201"/>
                  </a:lnTo>
                  <a:cubicBezTo>
                    <a:pt x="0" y="2001"/>
                    <a:pt x="667" y="2635"/>
                    <a:pt x="1468" y="2635"/>
                  </a:cubicBezTo>
                  <a:cubicBezTo>
                    <a:pt x="2235" y="2635"/>
                    <a:pt x="2902" y="2001"/>
                    <a:pt x="2902" y="1201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C7372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7580110" y="2158685"/>
              <a:ext cx="65400" cy="60068"/>
            </a:xfrm>
            <a:custGeom>
              <a:avLst/>
              <a:gdLst/>
              <a:ahLst/>
              <a:cxnLst/>
              <a:rect l="l" t="t" r="r" b="b"/>
              <a:pathLst>
                <a:path w="2870" h="2636" extrusionOk="0">
                  <a:moveTo>
                    <a:pt x="0" y="0"/>
                  </a:moveTo>
                  <a:lnTo>
                    <a:pt x="0" y="1201"/>
                  </a:lnTo>
                  <a:cubicBezTo>
                    <a:pt x="0" y="2001"/>
                    <a:pt x="634" y="2635"/>
                    <a:pt x="1435" y="2635"/>
                  </a:cubicBezTo>
                  <a:cubicBezTo>
                    <a:pt x="2235" y="2635"/>
                    <a:pt x="2869" y="2001"/>
                    <a:pt x="2869" y="1201"/>
                  </a:cubicBezTo>
                  <a:lnTo>
                    <a:pt x="2869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7645494" y="2158685"/>
              <a:ext cx="65377" cy="60068"/>
            </a:xfrm>
            <a:custGeom>
              <a:avLst/>
              <a:gdLst/>
              <a:ahLst/>
              <a:cxnLst/>
              <a:rect l="l" t="t" r="r" b="b"/>
              <a:pathLst>
                <a:path w="2869" h="2636" extrusionOk="0">
                  <a:moveTo>
                    <a:pt x="0" y="0"/>
                  </a:moveTo>
                  <a:lnTo>
                    <a:pt x="0" y="1201"/>
                  </a:lnTo>
                  <a:cubicBezTo>
                    <a:pt x="0" y="2001"/>
                    <a:pt x="634" y="2635"/>
                    <a:pt x="1434" y="2635"/>
                  </a:cubicBezTo>
                  <a:cubicBezTo>
                    <a:pt x="2235" y="2635"/>
                    <a:pt x="2869" y="2001"/>
                    <a:pt x="2869" y="1201"/>
                  </a:cubicBezTo>
                  <a:lnTo>
                    <a:pt x="286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7710855" y="2158685"/>
              <a:ext cx="65400" cy="60068"/>
            </a:xfrm>
            <a:custGeom>
              <a:avLst/>
              <a:gdLst/>
              <a:ahLst/>
              <a:cxnLst/>
              <a:rect l="l" t="t" r="r" b="b"/>
              <a:pathLst>
                <a:path w="2870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35" y="2635"/>
                    <a:pt x="1435" y="2635"/>
                  </a:cubicBezTo>
                  <a:cubicBezTo>
                    <a:pt x="2236" y="2635"/>
                    <a:pt x="2870" y="2001"/>
                    <a:pt x="2870" y="1201"/>
                  </a:cubicBezTo>
                  <a:lnTo>
                    <a:pt x="28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776239" y="2158685"/>
              <a:ext cx="65400" cy="60068"/>
            </a:xfrm>
            <a:custGeom>
              <a:avLst/>
              <a:gdLst/>
              <a:ahLst/>
              <a:cxnLst/>
              <a:rect l="l" t="t" r="r" b="b"/>
              <a:pathLst>
                <a:path w="2870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34" y="2635"/>
                    <a:pt x="1435" y="2635"/>
                  </a:cubicBezTo>
                  <a:cubicBezTo>
                    <a:pt x="2235" y="2635"/>
                    <a:pt x="2869" y="2001"/>
                    <a:pt x="2869" y="1201"/>
                  </a:cubicBezTo>
                  <a:lnTo>
                    <a:pt x="286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7841624" y="2158685"/>
              <a:ext cx="66152" cy="60068"/>
            </a:xfrm>
            <a:custGeom>
              <a:avLst/>
              <a:gdLst/>
              <a:ahLst/>
              <a:cxnLst/>
              <a:rect l="l" t="t" r="r" b="b"/>
              <a:pathLst>
                <a:path w="2903" h="2636" extrusionOk="0">
                  <a:moveTo>
                    <a:pt x="0" y="0"/>
                  </a:moveTo>
                  <a:lnTo>
                    <a:pt x="0" y="1201"/>
                  </a:lnTo>
                  <a:cubicBezTo>
                    <a:pt x="0" y="2001"/>
                    <a:pt x="667" y="2635"/>
                    <a:pt x="1435" y="2635"/>
                  </a:cubicBezTo>
                  <a:cubicBezTo>
                    <a:pt x="2235" y="2635"/>
                    <a:pt x="2902" y="2001"/>
                    <a:pt x="2902" y="1201"/>
                  </a:cubicBezTo>
                  <a:lnTo>
                    <a:pt x="2869" y="1201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7906985" y="2158685"/>
              <a:ext cx="66175" cy="60068"/>
            </a:xfrm>
            <a:custGeom>
              <a:avLst/>
              <a:gdLst/>
              <a:ahLst/>
              <a:cxnLst/>
              <a:rect l="l" t="t" r="r" b="b"/>
              <a:pathLst>
                <a:path w="2904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68" y="2635"/>
                    <a:pt x="1469" y="2635"/>
                  </a:cubicBezTo>
                  <a:cubicBezTo>
                    <a:pt x="2236" y="2635"/>
                    <a:pt x="2903" y="2001"/>
                    <a:pt x="2903" y="1201"/>
                  </a:cubicBezTo>
                  <a:lnTo>
                    <a:pt x="290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7973144" y="2158685"/>
              <a:ext cx="65377" cy="60068"/>
            </a:xfrm>
            <a:custGeom>
              <a:avLst/>
              <a:gdLst/>
              <a:ahLst/>
              <a:cxnLst/>
              <a:rect l="l" t="t" r="r" b="b"/>
              <a:pathLst>
                <a:path w="2869" h="2636" extrusionOk="0">
                  <a:moveTo>
                    <a:pt x="0" y="0"/>
                  </a:moveTo>
                  <a:lnTo>
                    <a:pt x="0" y="1201"/>
                  </a:lnTo>
                  <a:cubicBezTo>
                    <a:pt x="0" y="2001"/>
                    <a:pt x="634" y="2635"/>
                    <a:pt x="1434" y="2635"/>
                  </a:cubicBezTo>
                  <a:cubicBezTo>
                    <a:pt x="2202" y="2635"/>
                    <a:pt x="2869" y="2001"/>
                    <a:pt x="2869" y="1201"/>
                  </a:cubicBezTo>
                  <a:lnTo>
                    <a:pt x="2869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8038506" y="2158685"/>
              <a:ext cx="65400" cy="60068"/>
            </a:xfrm>
            <a:custGeom>
              <a:avLst/>
              <a:gdLst/>
              <a:ahLst/>
              <a:cxnLst/>
              <a:rect l="l" t="t" r="r" b="b"/>
              <a:pathLst>
                <a:path w="2870" h="2636" extrusionOk="0">
                  <a:moveTo>
                    <a:pt x="1" y="0"/>
                  </a:moveTo>
                  <a:lnTo>
                    <a:pt x="1" y="1201"/>
                  </a:lnTo>
                  <a:cubicBezTo>
                    <a:pt x="1" y="2001"/>
                    <a:pt x="635" y="2635"/>
                    <a:pt x="1435" y="2635"/>
                  </a:cubicBezTo>
                  <a:cubicBezTo>
                    <a:pt x="2236" y="2635"/>
                    <a:pt x="2869" y="2001"/>
                    <a:pt x="2869" y="1201"/>
                  </a:cubicBezTo>
                  <a:lnTo>
                    <a:pt x="286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0" name="Google Shape;110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88163" y="1794361"/>
              <a:ext cx="449262" cy="2183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5"/>
          <p:cNvSpPr/>
          <p:nvPr/>
        </p:nvSpPr>
        <p:spPr>
          <a:xfrm>
            <a:off x="8033402" y="3289404"/>
            <a:ext cx="103033" cy="100379"/>
          </a:xfrm>
          <a:custGeom>
            <a:avLst/>
            <a:gdLst/>
            <a:ahLst/>
            <a:cxnLst/>
            <a:rect l="l" t="t" r="r" b="b"/>
            <a:pathLst>
              <a:path w="4405" h="4405" extrusionOk="0">
                <a:moveTo>
                  <a:pt x="1" y="1"/>
                </a:moveTo>
                <a:lnTo>
                  <a:pt x="1902" y="4237"/>
                </a:lnTo>
                <a:lnTo>
                  <a:pt x="2770" y="3370"/>
                </a:lnTo>
                <a:lnTo>
                  <a:pt x="3770" y="4404"/>
                </a:lnTo>
                <a:lnTo>
                  <a:pt x="4404" y="3804"/>
                </a:lnTo>
                <a:lnTo>
                  <a:pt x="3370" y="2770"/>
                </a:lnTo>
                <a:lnTo>
                  <a:pt x="4237" y="1902"/>
                </a:lnTo>
                <a:lnTo>
                  <a:pt x="1" y="1"/>
                </a:lnTo>
                <a:close/>
              </a:path>
            </a:pathLst>
          </a:custGeom>
          <a:solidFill>
            <a:srgbClr val="C7372F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1188" y="3209168"/>
            <a:ext cx="331364" cy="34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120" b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Technology Roadmap (FY 25-26)</a:t>
            </a:r>
            <a:endParaRPr sz="2120"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720450" y="2507711"/>
            <a:ext cx="1958100" cy="133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6582619" y="2507725"/>
            <a:ext cx="1958100" cy="1335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311710" y="2598772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Q1</a:t>
            </a:r>
            <a:endParaRPr sz="9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" sz="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Jul’25)</a:t>
            </a:r>
            <a:endParaRPr sz="5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2311385" y="2598772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Q2</a:t>
            </a:r>
            <a:b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(Oct’25)</a:t>
            </a:r>
            <a:endParaRPr sz="9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4257698" y="2598772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Q3</a:t>
            </a:r>
            <a:br>
              <a:rPr lang="en" sz="9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(Jan’26)</a:t>
            </a:r>
            <a:endParaRPr sz="9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6312523" y="2598772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Q4</a:t>
            </a:r>
            <a:br>
              <a:rPr lang="en" sz="9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(Apr’26)</a:t>
            </a:r>
            <a:endParaRPr sz="9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8119048" y="2598772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Jun’26</a:t>
            </a:r>
            <a:endParaRPr sz="9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4633449" y="2507711"/>
            <a:ext cx="1958100" cy="133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2675524" y="2507700"/>
            <a:ext cx="1958100" cy="1335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256813" y="3543100"/>
            <a:ext cx="11877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DC Product Processing &amp; Expiry Management System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3" name="Google Shape;213;p32"/>
          <p:cNvGrpSpPr/>
          <p:nvPr/>
        </p:nvGrpSpPr>
        <p:grpSpPr>
          <a:xfrm rot="10800000">
            <a:off x="804463" y="2641016"/>
            <a:ext cx="92400" cy="454500"/>
            <a:chOff x="2072481" y="2343075"/>
            <a:chExt cx="92400" cy="454500"/>
          </a:xfrm>
        </p:grpSpPr>
        <p:cxnSp>
          <p:nvCxnSpPr>
            <p:cNvPr id="214" name="Google Shape;214;p32"/>
            <p:cNvCxnSpPr>
              <a:stCxn id="215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5" name="Google Shape;215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32"/>
          <p:cNvSpPr txBox="1"/>
          <p:nvPr/>
        </p:nvSpPr>
        <p:spPr>
          <a:xfrm>
            <a:off x="1310376" y="3543100"/>
            <a:ext cx="12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Self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Checkout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7" name="Google Shape;217;p32"/>
          <p:cNvGrpSpPr/>
          <p:nvPr/>
        </p:nvGrpSpPr>
        <p:grpSpPr>
          <a:xfrm rot="10800000">
            <a:off x="1900626" y="2641016"/>
            <a:ext cx="92400" cy="454500"/>
            <a:chOff x="2072481" y="2343075"/>
            <a:chExt cx="92400" cy="454500"/>
          </a:xfrm>
        </p:grpSpPr>
        <p:cxnSp>
          <p:nvCxnSpPr>
            <p:cNvPr id="218" name="Google Shape;218;p32"/>
            <p:cNvCxnSpPr>
              <a:stCxn id="219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9" name="Google Shape;219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32"/>
          <p:cNvSpPr txBox="1"/>
          <p:nvPr/>
        </p:nvSpPr>
        <p:spPr>
          <a:xfrm>
            <a:off x="720450" y="1514925"/>
            <a:ext cx="10878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Fresh Produce Buying &amp; Distribution System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675" y="1179993"/>
            <a:ext cx="331350" cy="33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32"/>
          <p:cNvGrpSpPr/>
          <p:nvPr/>
        </p:nvGrpSpPr>
        <p:grpSpPr>
          <a:xfrm flipH="1">
            <a:off x="1218150" y="2053191"/>
            <a:ext cx="92400" cy="454500"/>
            <a:chOff x="2072481" y="2343075"/>
            <a:chExt cx="92400" cy="454500"/>
          </a:xfrm>
        </p:grpSpPr>
        <p:cxnSp>
          <p:nvCxnSpPr>
            <p:cNvPr id="223" name="Google Shape;223;p32"/>
            <p:cNvCxnSpPr>
              <a:stCxn id="224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4" name="Google Shape;224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32"/>
          <p:cNvSpPr txBox="1"/>
          <p:nvPr/>
        </p:nvSpPr>
        <p:spPr>
          <a:xfrm>
            <a:off x="2513900" y="3543100"/>
            <a:ext cx="12141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Shelf wise Product Shelving &amp; Refilling Management System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6" name="Google Shape;226;p32"/>
          <p:cNvGrpSpPr/>
          <p:nvPr/>
        </p:nvGrpSpPr>
        <p:grpSpPr>
          <a:xfrm rot="10800000">
            <a:off x="3074750" y="2641016"/>
            <a:ext cx="92400" cy="454500"/>
            <a:chOff x="2072481" y="2343075"/>
            <a:chExt cx="92400" cy="454500"/>
          </a:xfrm>
        </p:grpSpPr>
        <p:cxnSp>
          <p:nvCxnSpPr>
            <p:cNvPr id="227" name="Google Shape;227;p32"/>
            <p:cNvCxnSpPr>
              <a:stCxn id="228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8" name="Google Shape;228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32"/>
          <p:cNvSpPr txBox="1"/>
          <p:nvPr/>
        </p:nvSpPr>
        <p:spPr>
          <a:xfrm>
            <a:off x="1793463" y="1514925"/>
            <a:ext cx="12729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Theft Control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with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Video Analytics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0" name="Google Shape;230;p32"/>
          <p:cNvGrpSpPr/>
          <p:nvPr/>
        </p:nvGrpSpPr>
        <p:grpSpPr>
          <a:xfrm flipH="1">
            <a:off x="2383713" y="2053216"/>
            <a:ext cx="92400" cy="454500"/>
            <a:chOff x="2072481" y="2343075"/>
            <a:chExt cx="92400" cy="454500"/>
          </a:xfrm>
        </p:grpSpPr>
        <p:cxnSp>
          <p:nvCxnSpPr>
            <p:cNvPr id="231" name="Google Shape;231;p32"/>
            <p:cNvCxnSpPr>
              <a:stCxn id="232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2" name="Google Shape;232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p32"/>
          <p:cNvSpPr txBox="1"/>
          <p:nvPr/>
        </p:nvSpPr>
        <p:spPr>
          <a:xfrm>
            <a:off x="2962213" y="1514925"/>
            <a:ext cx="13788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Corporate Customer Management Platform with Salesman App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4" name="Google Shape;234;p32"/>
          <p:cNvGrpSpPr/>
          <p:nvPr/>
        </p:nvGrpSpPr>
        <p:grpSpPr>
          <a:xfrm flipH="1">
            <a:off x="3605413" y="2053191"/>
            <a:ext cx="92400" cy="454500"/>
            <a:chOff x="2072481" y="2343075"/>
            <a:chExt cx="92400" cy="454500"/>
          </a:xfrm>
        </p:grpSpPr>
        <p:cxnSp>
          <p:nvCxnSpPr>
            <p:cNvPr id="235" name="Google Shape;235;p32"/>
            <p:cNvCxnSpPr>
              <a:stCxn id="236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6" name="Google Shape;236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7" name="Google Shape;23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2450" y="1186597"/>
            <a:ext cx="312250" cy="312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32"/>
          <p:cNvGrpSpPr/>
          <p:nvPr/>
        </p:nvGrpSpPr>
        <p:grpSpPr>
          <a:xfrm rot="10800000">
            <a:off x="4280375" y="2641016"/>
            <a:ext cx="92400" cy="454500"/>
            <a:chOff x="2072481" y="2343075"/>
            <a:chExt cx="92400" cy="454500"/>
          </a:xfrm>
        </p:grpSpPr>
        <p:cxnSp>
          <p:nvCxnSpPr>
            <p:cNvPr id="239" name="Google Shape;239;p32"/>
            <p:cNvCxnSpPr>
              <a:stCxn id="240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0" name="Google Shape;240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32"/>
          <p:cNvSpPr txBox="1"/>
          <p:nvPr/>
        </p:nvSpPr>
        <p:spPr>
          <a:xfrm>
            <a:off x="3727925" y="3543100"/>
            <a:ext cx="11973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Chain &amp; Planning Management Platform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929185" y="3543100"/>
            <a:ext cx="10878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Omni Channel App with New Loyalty Integration</a:t>
            </a:r>
            <a:endParaRPr sz="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3" name="Google Shape;243;p32"/>
          <p:cNvGrpSpPr/>
          <p:nvPr/>
        </p:nvGrpSpPr>
        <p:grpSpPr>
          <a:xfrm rot="10800000">
            <a:off x="5426885" y="2641016"/>
            <a:ext cx="92400" cy="454500"/>
            <a:chOff x="2072481" y="2343075"/>
            <a:chExt cx="92400" cy="454500"/>
          </a:xfrm>
        </p:grpSpPr>
        <p:cxnSp>
          <p:nvCxnSpPr>
            <p:cNvPr id="244" name="Google Shape;244;p32"/>
            <p:cNvCxnSpPr>
              <a:stCxn id="245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5" name="Google Shape;245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32"/>
          <p:cNvSpPr txBox="1"/>
          <p:nvPr/>
        </p:nvSpPr>
        <p:spPr>
          <a:xfrm>
            <a:off x="4215862" y="1514925"/>
            <a:ext cx="11490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Category &amp; Vendor Management Platform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7" name="Google Shape;247;p32"/>
          <p:cNvGrpSpPr/>
          <p:nvPr/>
        </p:nvGrpSpPr>
        <p:grpSpPr>
          <a:xfrm flipH="1">
            <a:off x="4744162" y="2053191"/>
            <a:ext cx="92400" cy="454500"/>
            <a:chOff x="1231356" y="2343075"/>
            <a:chExt cx="92400" cy="454500"/>
          </a:xfrm>
        </p:grpSpPr>
        <p:cxnSp>
          <p:nvCxnSpPr>
            <p:cNvPr id="248" name="Google Shape;248;p32"/>
            <p:cNvCxnSpPr>
              <a:stCxn id="249" idx="4"/>
            </p:cNvCxnSpPr>
            <p:nvPr/>
          </p:nvCxnSpPr>
          <p:spPr>
            <a:xfrm>
              <a:off x="1277556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9" name="Google Shape;249;p32"/>
            <p:cNvSpPr/>
            <p:nvPr/>
          </p:nvSpPr>
          <p:spPr>
            <a:xfrm>
              <a:off x="1231356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32"/>
          <p:cNvSpPr txBox="1"/>
          <p:nvPr/>
        </p:nvSpPr>
        <p:spPr>
          <a:xfrm>
            <a:off x="6015732" y="3543100"/>
            <a:ext cx="987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Shwapno Marketplace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1" name="Google Shape;251;p32"/>
          <p:cNvGrpSpPr/>
          <p:nvPr/>
        </p:nvGrpSpPr>
        <p:grpSpPr>
          <a:xfrm rot="10800000">
            <a:off x="6463482" y="2641216"/>
            <a:ext cx="92400" cy="454500"/>
            <a:chOff x="2072481" y="2343075"/>
            <a:chExt cx="92400" cy="454500"/>
          </a:xfrm>
        </p:grpSpPr>
        <p:cxnSp>
          <p:nvCxnSpPr>
            <p:cNvPr id="252" name="Google Shape;252;p32"/>
            <p:cNvCxnSpPr>
              <a:stCxn id="253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3" name="Google Shape;253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32"/>
          <p:cNvSpPr txBox="1"/>
          <p:nvPr/>
        </p:nvSpPr>
        <p:spPr>
          <a:xfrm>
            <a:off x="5230337" y="1514925"/>
            <a:ext cx="11490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Outlet wise Sales Forecasting</a:t>
            </a:r>
            <a:b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(Phase 1)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5" name="Google Shape;255;p32"/>
          <p:cNvGrpSpPr/>
          <p:nvPr/>
        </p:nvGrpSpPr>
        <p:grpSpPr>
          <a:xfrm flipH="1">
            <a:off x="5758637" y="2053191"/>
            <a:ext cx="92400" cy="454500"/>
            <a:chOff x="1231356" y="2343075"/>
            <a:chExt cx="92400" cy="454500"/>
          </a:xfrm>
        </p:grpSpPr>
        <p:cxnSp>
          <p:nvCxnSpPr>
            <p:cNvPr id="256" name="Google Shape;256;p32"/>
            <p:cNvCxnSpPr>
              <a:stCxn id="257" idx="4"/>
            </p:cNvCxnSpPr>
            <p:nvPr/>
          </p:nvCxnSpPr>
          <p:spPr>
            <a:xfrm>
              <a:off x="1277556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7" name="Google Shape;257;p32"/>
            <p:cNvSpPr/>
            <p:nvPr/>
          </p:nvSpPr>
          <p:spPr>
            <a:xfrm>
              <a:off x="1231356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32"/>
          <p:cNvSpPr txBox="1"/>
          <p:nvPr/>
        </p:nvSpPr>
        <p:spPr>
          <a:xfrm>
            <a:off x="6263437" y="1514925"/>
            <a:ext cx="11490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CRM Platform with Customer Complaint Tracking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9" name="Google Shape;259;p32"/>
          <p:cNvGrpSpPr/>
          <p:nvPr/>
        </p:nvGrpSpPr>
        <p:grpSpPr>
          <a:xfrm flipH="1">
            <a:off x="6791737" y="2053166"/>
            <a:ext cx="92400" cy="454500"/>
            <a:chOff x="1231356" y="2343075"/>
            <a:chExt cx="92400" cy="454500"/>
          </a:xfrm>
        </p:grpSpPr>
        <p:cxnSp>
          <p:nvCxnSpPr>
            <p:cNvPr id="260" name="Google Shape;260;p32"/>
            <p:cNvCxnSpPr>
              <a:stCxn id="261" idx="4"/>
            </p:cNvCxnSpPr>
            <p:nvPr/>
          </p:nvCxnSpPr>
          <p:spPr>
            <a:xfrm>
              <a:off x="1277556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32"/>
            <p:cNvSpPr/>
            <p:nvPr/>
          </p:nvSpPr>
          <p:spPr>
            <a:xfrm>
              <a:off x="1231356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32"/>
          <p:cNvSpPr txBox="1"/>
          <p:nvPr/>
        </p:nvSpPr>
        <p:spPr>
          <a:xfrm>
            <a:off x="6876349" y="3543100"/>
            <a:ext cx="1071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Target wise Automated Task Generation System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3" name="Google Shape;263;p32"/>
          <p:cNvGrpSpPr/>
          <p:nvPr/>
        </p:nvGrpSpPr>
        <p:grpSpPr>
          <a:xfrm rot="10800000">
            <a:off x="7366107" y="2641216"/>
            <a:ext cx="92400" cy="454500"/>
            <a:chOff x="2072481" y="2343075"/>
            <a:chExt cx="92400" cy="454500"/>
          </a:xfrm>
        </p:grpSpPr>
        <p:cxnSp>
          <p:nvCxnSpPr>
            <p:cNvPr id="264" name="Google Shape;264;p32"/>
            <p:cNvCxnSpPr>
              <a:stCxn id="265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32"/>
          <p:cNvSpPr txBox="1"/>
          <p:nvPr/>
        </p:nvSpPr>
        <p:spPr>
          <a:xfrm>
            <a:off x="7760257" y="3543100"/>
            <a:ext cx="987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Business Investment Platform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7" name="Google Shape;267;p32"/>
          <p:cNvGrpSpPr/>
          <p:nvPr/>
        </p:nvGrpSpPr>
        <p:grpSpPr>
          <a:xfrm rot="10800000">
            <a:off x="8208007" y="2641216"/>
            <a:ext cx="92400" cy="454500"/>
            <a:chOff x="2072481" y="2343075"/>
            <a:chExt cx="92400" cy="454500"/>
          </a:xfrm>
        </p:grpSpPr>
        <p:cxnSp>
          <p:nvCxnSpPr>
            <p:cNvPr id="268" name="Google Shape;268;p32"/>
            <p:cNvCxnSpPr>
              <a:stCxn id="269" idx="4"/>
            </p:cNvCxnSpPr>
            <p:nvPr/>
          </p:nvCxnSpPr>
          <p:spPr>
            <a:xfrm>
              <a:off x="2118681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32"/>
            <p:cNvSpPr/>
            <p:nvPr/>
          </p:nvSpPr>
          <p:spPr>
            <a:xfrm>
              <a:off x="2072481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2"/>
          <p:cNvSpPr txBox="1"/>
          <p:nvPr/>
        </p:nvSpPr>
        <p:spPr>
          <a:xfrm>
            <a:off x="7369637" y="1514925"/>
            <a:ext cx="11490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Retail Store Management Platform</a:t>
            </a:r>
            <a:endParaRPr sz="7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1" name="Google Shape;271;p32"/>
          <p:cNvGrpSpPr/>
          <p:nvPr/>
        </p:nvGrpSpPr>
        <p:grpSpPr>
          <a:xfrm flipH="1">
            <a:off x="7897937" y="2053166"/>
            <a:ext cx="92400" cy="454500"/>
            <a:chOff x="1231356" y="2343075"/>
            <a:chExt cx="92400" cy="454500"/>
          </a:xfrm>
        </p:grpSpPr>
        <p:cxnSp>
          <p:nvCxnSpPr>
            <p:cNvPr id="272" name="Google Shape;272;p32"/>
            <p:cNvCxnSpPr>
              <a:stCxn id="273" idx="4"/>
            </p:cNvCxnSpPr>
            <p:nvPr/>
          </p:nvCxnSpPr>
          <p:spPr>
            <a:xfrm>
              <a:off x="1277556" y="2435475"/>
              <a:ext cx="0" cy="362100"/>
            </a:xfrm>
            <a:prstGeom prst="straightConnector1">
              <a:avLst/>
            </a:prstGeom>
            <a:noFill/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3" name="Google Shape;273;p32"/>
            <p:cNvSpPr/>
            <p:nvPr/>
          </p:nvSpPr>
          <p:spPr>
            <a:xfrm>
              <a:off x="1231356" y="2343075"/>
              <a:ext cx="92400" cy="92400"/>
            </a:xfrm>
            <a:prstGeom prst="ellipse">
              <a:avLst/>
            </a:prstGeom>
            <a:solidFill>
              <a:srgbClr val="EC1B21"/>
            </a:solidFill>
            <a:ln w="9525" cap="flat" cmpd="sng">
              <a:solidFill>
                <a:srgbClr val="EC1B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32"/>
          <p:cNvGrpSpPr/>
          <p:nvPr/>
        </p:nvGrpSpPr>
        <p:grpSpPr>
          <a:xfrm>
            <a:off x="684996" y="3214933"/>
            <a:ext cx="331348" cy="331348"/>
            <a:chOff x="1407781" y="2530152"/>
            <a:chExt cx="496550" cy="496550"/>
          </a:xfrm>
        </p:grpSpPr>
        <p:pic>
          <p:nvPicPr>
            <p:cNvPr id="275" name="Google Shape;275;p3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407781" y="2530152"/>
              <a:ext cx="496550" cy="496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3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51316" y="2579820"/>
              <a:ext cx="405524" cy="4055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" name="Google Shape;277;p32"/>
          <p:cNvGrpSpPr/>
          <p:nvPr/>
        </p:nvGrpSpPr>
        <p:grpSpPr>
          <a:xfrm>
            <a:off x="1790704" y="3214931"/>
            <a:ext cx="312245" cy="331350"/>
            <a:chOff x="4138622" y="1186600"/>
            <a:chExt cx="312245" cy="331350"/>
          </a:xfrm>
        </p:grpSpPr>
        <p:pic>
          <p:nvPicPr>
            <p:cNvPr id="278" name="Google Shape;278;p32"/>
            <p:cNvPicPr preferRelativeResize="0"/>
            <p:nvPr/>
          </p:nvPicPr>
          <p:blipFill rotWithShape="1">
            <a:blip r:embed="rId8">
              <a:alphaModFix amt="80000"/>
            </a:blip>
            <a:srcRect/>
            <a:stretch/>
          </p:blipFill>
          <p:spPr>
            <a:xfrm>
              <a:off x="4138622" y="1205708"/>
              <a:ext cx="312240" cy="3122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233459" y="1253135"/>
              <a:ext cx="217408" cy="2174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3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166932" y="1186600"/>
              <a:ext cx="283930" cy="2839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1" name="Google Shape;281;p32"/>
          <p:cNvPicPr preferRelativeResize="0"/>
          <p:nvPr/>
        </p:nvPicPr>
        <p:blipFill rotWithShape="1">
          <a:blip r:embed="rId10">
            <a:alphaModFix amt="84000"/>
          </a:blip>
          <a:srcRect/>
          <a:stretch/>
        </p:blipFill>
        <p:spPr>
          <a:xfrm>
            <a:off x="5639165" y="1183593"/>
            <a:ext cx="331345" cy="33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32"/>
          <p:cNvGrpSpPr/>
          <p:nvPr/>
        </p:nvGrpSpPr>
        <p:grpSpPr>
          <a:xfrm>
            <a:off x="5307416" y="3214946"/>
            <a:ext cx="331321" cy="331321"/>
            <a:chOff x="7684300" y="1261300"/>
            <a:chExt cx="617100" cy="617100"/>
          </a:xfrm>
        </p:grpSpPr>
        <p:pic>
          <p:nvPicPr>
            <p:cNvPr id="283" name="Google Shape;283;p3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7684300" y="1261300"/>
              <a:ext cx="617100" cy="61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799875" y="1339497"/>
              <a:ext cx="442925" cy="442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32"/>
          <p:cNvGrpSpPr/>
          <p:nvPr/>
        </p:nvGrpSpPr>
        <p:grpSpPr>
          <a:xfrm>
            <a:off x="4624689" y="1179993"/>
            <a:ext cx="331347" cy="344528"/>
            <a:chOff x="4319631" y="2961298"/>
            <a:chExt cx="514594" cy="535066"/>
          </a:xfrm>
        </p:grpSpPr>
        <p:pic>
          <p:nvPicPr>
            <p:cNvPr id="286" name="Google Shape;286;p3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319631" y="2999814"/>
              <a:ext cx="496550" cy="496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337675" y="2961298"/>
              <a:ext cx="496550" cy="4965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32"/>
          <p:cNvGrpSpPr/>
          <p:nvPr/>
        </p:nvGrpSpPr>
        <p:grpSpPr>
          <a:xfrm>
            <a:off x="8088524" y="3214918"/>
            <a:ext cx="331343" cy="331377"/>
            <a:chOff x="4944650" y="994425"/>
            <a:chExt cx="337726" cy="337726"/>
          </a:xfrm>
        </p:grpSpPr>
        <p:pic>
          <p:nvPicPr>
            <p:cNvPr id="289" name="Google Shape;289;p32"/>
            <p:cNvPicPr preferRelativeResize="0"/>
            <p:nvPr/>
          </p:nvPicPr>
          <p:blipFill rotWithShape="1">
            <a:blip r:embed="rId15">
              <a:alphaModFix amt="72000"/>
            </a:blip>
            <a:srcRect/>
            <a:stretch/>
          </p:blipFill>
          <p:spPr>
            <a:xfrm>
              <a:off x="4944650" y="994425"/>
              <a:ext cx="337726" cy="337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32"/>
            <p:cNvPicPr preferRelativeResize="0"/>
            <p:nvPr/>
          </p:nvPicPr>
          <p:blipFill rotWithShape="1">
            <a:blip r:embed="rId16">
              <a:alphaModFix amt="90000"/>
            </a:blip>
            <a:srcRect/>
            <a:stretch/>
          </p:blipFill>
          <p:spPr>
            <a:xfrm>
              <a:off x="4980950" y="1044876"/>
              <a:ext cx="289201" cy="2073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1" name="Google Shape;291;p3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672262" y="1186597"/>
            <a:ext cx="331350" cy="3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485963" y="1186613"/>
            <a:ext cx="331300" cy="3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955312" y="3214969"/>
            <a:ext cx="331276" cy="3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246654" y="3214969"/>
            <a:ext cx="331276" cy="3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2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160937" y="3214975"/>
            <a:ext cx="331276" cy="3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320025" y="3162912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525800" y="3164175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003500" y="1121362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19050" y="1121362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015725" y="1121362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610375" y="3164187"/>
            <a:ext cx="92399" cy="9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2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7500" y="3160262"/>
            <a:ext cx="92399" cy="92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32"/>
          <p:cNvGrpSpPr/>
          <p:nvPr/>
        </p:nvGrpSpPr>
        <p:grpSpPr>
          <a:xfrm>
            <a:off x="2273819" y="1184049"/>
            <a:ext cx="312227" cy="330448"/>
            <a:chOff x="138525" y="1671875"/>
            <a:chExt cx="504731" cy="534100"/>
          </a:xfrm>
        </p:grpSpPr>
        <p:grpSp>
          <p:nvGrpSpPr>
            <p:cNvPr id="304" name="Google Shape;304;p32"/>
            <p:cNvGrpSpPr/>
            <p:nvPr/>
          </p:nvGrpSpPr>
          <p:grpSpPr>
            <a:xfrm>
              <a:off x="138525" y="1709414"/>
              <a:ext cx="504731" cy="496561"/>
              <a:chOff x="1510125" y="2700014"/>
              <a:chExt cx="504731" cy="496561"/>
            </a:xfrm>
          </p:grpSpPr>
          <p:pic>
            <p:nvPicPr>
              <p:cNvPr id="305" name="Google Shape;305;p32"/>
              <p:cNvPicPr preferRelativeResize="0"/>
              <p:nvPr/>
            </p:nvPicPr>
            <p:blipFill rotWithShape="1">
              <a:blip r:embed="rId23">
                <a:alphaModFix/>
              </a:blip>
              <a:srcRect/>
              <a:stretch/>
            </p:blipFill>
            <p:spPr>
              <a:xfrm>
                <a:off x="1518306" y="2700014"/>
                <a:ext cx="496550" cy="496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32"/>
              <p:cNvPicPr preferRelativeResize="0"/>
              <p:nvPr/>
            </p:nvPicPr>
            <p:blipFill rotWithShape="1">
              <a:blip r:embed="rId24">
                <a:alphaModFix/>
              </a:blip>
              <a:srcRect t="28147" r="29553" b="-7"/>
              <a:stretch/>
            </p:blipFill>
            <p:spPr>
              <a:xfrm>
                <a:off x="1510125" y="2846450"/>
                <a:ext cx="343250" cy="350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7" name="Google Shape;307;p32"/>
            <p:cNvPicPr preferRelativeResize="0"/>
            <p:nvPr/>
          </p:nvPicPr>
          <p:blipFill rotWithShape="1">
            <a:blip r:embed="rId24">
              <a:alphaModFix/>
            </a:blip>
            <a:srcRect l="55772" b="54772"/>
            <a:stretch/>
          </p:blipFill>
          <p:spPr>
            <a:xfrm>
              <a:off x="338700" y="1671875"/>
              <a:ext cx="304550" cy="311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" name="Google Shape;308;p32" title="food (1)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384411" y="3258138"/>
            <a:ext cx="244937" cy="244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2" title="predictiv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5691663" y="1223200"/>
            <a:ext cx="244950" cy="2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>
            <a:hlinkClick r:id="rId3" action="ppaction://hlinksldjump"/>
          </p:cNvPr>
          <p:cNvSpPr/>
          <p:nvPr/>
        </p:nvSpPr>
        <p:spPr>
          <a:xfrm>
            <a:off x="5343988" y="2895700"/>
            <a:ext cx="2017500" cy="19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752888" y="2868175"/>
            <a:ext cx="2017500" cy="19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343988" y="889825"/>
            <a:ext cx="2017500" cy="19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>
            <a:hlinkClick r:id="rId6" action="ppaction://hlinksldjump"/>
          </p:cNvPr>
          <p:cNvSpPr/>
          <p:nvPr/>
        </p:nvSpPr>
        <p:spPr>
          <a:xfrm>
            <a:off x="1752900" y="889825"/>
            <a:ext cx="2017500" cy="19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402718" y="4072375"/>
            <a:ext cx="277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Shwapno Central Management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Ongoing Development Tasks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7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17"/>
          <p:cNvSpPr txBox="1"/>
          <p:nvPr/>
        </p:nvSpPr>
        <p:spPr>
          <a:xfrm>
            <a:off x="1402713" y="2176738"/>
            <a:ext cx="277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Operations App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v2.1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964184" y="2045938"/>
            <a:ext cx="277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Fresh Buying &amp;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Distribution Network v2.0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72572" y="1062594"/>
            <a:ext cx="960324" cy="959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11113" y="1062238"/>
            <a:ext cx="960325" cy="9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4964180" y="4072375"/>
            <a:ext cx="277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Shwapno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Survey App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17" title="Logo 1200x120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11113" y="3112050"/>
            <a:ext cx="960324" cy="96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Circle Logo 1024_10124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72588" y="3112050"/>
            <a:ext cx="960325" cy="9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9371"/>
          <a:stretch/>
        </p:blipFill>
        <p:spPr>
          <a:xfrm>
            <a:off x="5811075" y="1494575"/>
            <a:ext cx="2749150" cy="264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-29475" y="4300275"/>
            <a:ext cx="9183300" cy="2697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-29475" y="4030575"/>
            <a:ext cx="9183300" cy="26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85550" y="0"/>
            <a:ext cx="5704500" cy="3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Operations App</a:t>
            </a:r>
            <a:endParaRPr sz="3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DC  |  Outlet  |  Dark Store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D9EAD3"/>
                </a:highlight>
                <a:latin typeface="Poppins ExtraLight"/>
                <a:ea typeface="Poppins ExtraLight"/>
                <a:cs typeface="Poppins ExtraLight"/>
                <a:sym typeface="Poppins ExtraLight"/>
              </a:rPr>
              <a:t>v1.0, v1.1 Launched</a:t>
            </a:r>
            <a:r>
              <a:rPr lang="en" sz="90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 ; </a:t>
            </a:r>
            <a:r>
              <a:rPr lang="en" sz="900">
                <a:solidFill>
                  <a:schemeClr val="dk1"/>
                </a:solidFill>
                <a:highlight>
                  <a:srgbClr val="FFF2CC"/>
                </a:highlight>
                <a:latin typeface="Poppins ExtraLight"/>
                <a:ea typeface="Poppins ExtraLight"/>
                <a:cs typeface="Poppins ExtraLight"/>
                <a:sym typeface="Poppins ExtraLight"/>
              </a:rPr>
              <a:t>v2.1 &amp; 2.2 Development Ongoing</a:t>
            </a:r>
            <a:endParaRPr sz="900">
              <a:solidFill>
                <a:schemeClr val="dk1"/>
              </a:solidFill>
              <a:highlight>
                <a:srgbClr val="FFF2CC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4050" y="4419250"/>
            <a:ext cx="905900" cy="9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hlinkClick r:id="rId6"/>
          </p:cNvPr>
          <p:cNvSpPr txBox="1"/>
          <p:nvPr/>
        </p:nvSpPr>
        <p:spPr>
          <a:xfrm>
            <a:off x="342025" y="4930475"/>
            <a:ext cx="4026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8" name="Google Shape;158;p18"/>
          <p:cNvGrpSpPr/>
          <p:nvPr/>
        </p:nvGrpSpPr>
        <p:grpSpPr>
          <a:xfrm>
            <a:off x="480159" y="2845350"/>
            <a:ext cx="3290323" cy="1085100"/>
            <a:chOff x="343385" y="2945475"/>
            <a:chExt cx="2874900" cy="1085100"/>
          </a:xfrm>
        </p:grpSpPr>
        <p:sp>
          <p:nvSpPr>
            <p:cNvPr id="159" name="Google Shape;159;p18"/>
            <p:cNvSpPr/>
            <p:nvPr/>
          </p:nvSpPr>
          <p:spPr>
            <a:xfrm>
              <a:off x="343385" y="3005175"/>
              <a:ext cx="2874900" cy="965700"/>
            </a:xfrm>
            <a:prstGeom prst="roundRect">
              <a:avLst>
                <a:gd name="adj" fmla="val 7026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385550" y="2945475"/>
              <a:ext cx="2777100" cy="10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142875" lvl="0" indent="-1206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oppins"/>
                <a:buChar char="●"/>
              </a:pPr>
              <a:r>
                <a:rPr lang="en" sz="1000" b="1">
                  <a:latin typeface="Poppins"/>
                  <a:ea typeface="Poppins"/>
                  <a:cs typeface="Poppins"/>
                  <a:sym typeface="Poppins"/>
                </a:rPr>
                <a:t>445,000</a:t>
              </a:r>
              <a:r>
                <a:rPr lang="en" sz="1000" b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+ </a:t>
              </a:r>
              <a:r>
                <a:rPr lang="en" sz="1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GRN Created (Till Date)</a:t>
              </a:r>
              <a:endParaRPr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For </a:t>
              </a:r>
              <a:r>
                <a:rPr lang="en" sz="800" u="sng">
                  <a:latin typeface="Poppins"/>
                  <a:ea typeface="Poppins"/>
                  <a:cs typeface="Poppins"/>
                  <a:sym typeface="Poppins"/>
                </a:rPr>
                <a:t>Aug</a:t>
              </a:r>
              <a:r>
                <a:rPr lang="en" sz="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’25</a:t>
              </a:r>
              <a:endParaRPr sz="1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142875" lvl="0" indent="-1206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oppins"/>
                <a:buChar char="●"/>
              </a:pPr>
              <a:r>
                <a:rPr lang="en" sz="1000" b="1">
                  <a:latin typeface="Poppins"/>
                  <a:ea typeface="Poppins"/>
                  <a:cs typeface="Poppins"/>
                  <a:sym typeface="Poppins"/>
                </a:rPr>
                <a:t>67</a:t>
              </a:r>
              <a:r>
                <a:rPr lang="en" sz="1000" b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%</a:t>
              </a:r>
              <a:r>
                <a:rPr lang="en" sz="1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GRN </a:t>
              </a:r>
              <a:r>
                <a:rPr lang="en" sz="1000">
                  <a:latin typeface="Poppins"/>
                  <a:ea typeface="Poppins"/>
                  <a:cs typeface="Poppins"/>
                  <a:sym typeface="Poppins"/>
                </a:rPr>
                <a:t>Created for CG PO in </a:t>
              </a:r>
              <a:r>
                <a:rPr lang="en" sz="10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597</a:t>
              </a:r>
              <a:r>
                <a:rPr lang="en" sz="10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Outlets</a:t>
              </a:r>
              <a:endParaRPr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142875" lvl="0" indent="-1206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oppins"/>
                <a:buChar char="●"/>
              </a:pPr>
              <a:r>
                <a:rPr lang="en" sz="1000" b="1">
                  <a:latin typeface="Poppins"/>
                  <a:ea typeface="Poppins"/>
                  <a:cs typeface="Poppins"/>
                  <a:sym typeface="Poppins"/>
                </a:rPr>
                <a:t>51</a:t>
              </a:r>
              <a:r>
                <a:rPr lang="en" sz="1000" b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%</a:t>
              </a:r>
              <a:r>
                <a:rPr lang="en" sz="1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GRN Created for All PO in </a:t>
              </a:r>
              <a:r>
                <a:rPr lang="en" sz="1000" b="1">
                  <a:latin typeface="Poppins"/>
                  <a:ea typeface="Poppins"/>
                  <a:cs typeface="Poppins"/>
                  <a:sym typeface="Poppins"/>
                </a:rPr>
                <a:t>All</a:t>
              </a:r>
              <a:r>
                <a:rPr lang="en" sz="1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Outlets</a:t>
              </a:r>
              <a:endParaRPr sz="1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61" name="Google Shape;161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918391" y="3077925"/>
              <a:ext cx="218784" cy="241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8"/>
          <p:cNvGrpSpPr/>
          <p:nvPr/>
        </p:nvGrpSpPr>
        <p:grpSpPr>
          <a:xfrm>
            <a:off x="3440115" y="3421275"/>
            <a:ext cx="92275" cy="104225"/>
            <a:chOff x="3394325" y="3421275"/>
            <a:chExt cx="92275" cy="104225"/>
          </a:xfrm>
        </p:grpSpPr>
        <p:pic>
          <p:nvPicPr>
            <p:cNvPr id="163" name="Google Shape;163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401425" y="3447850"/>
              <a:ext cx="77650" cy="7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394325" y="3421275"/>
              <a:ext cx="92275" cy="92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8"/>
          <p:cNvGrpSpPr/>
          <p:nvPr/>
        </p:nvGrpSpPr>
        <p:grpSpPr>
          <a:xfrm>
            <a:off x="3321235" y="3651075"/>
            <a:ext cx="92275" cy="104675"/>
            <a:chOff x="3316450" y="3651075"/>
            <a:chExt cx="92275" cy="104675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323775" y="3678100"/>
              <a:ext cx="77650" cy="7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316450" y="3651075"/>
              <a:ext cx="92275" cy="92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Operations App v2.1 - Flowchart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3" name="Google Shape;173;p19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19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201996" y="1319077"/>
            <a:ext cx="892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Product Unload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499871" y="1319077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Product Shelving in Designated Shelf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592553" y="1319077"/>
            <a:ext cx="10017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PO Barcode Scan &amp; Product Receive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9" name="Google Shape;179;p19"/>
          <p:cNvCxnSpPr>
            <a:stCxn id="176" idx="3"/>
            <a:endCxn id="178" idx="1"/>
          </p:cNvCxnSpPr>
          <p:nvPr/>
        </p:nvCxnSpPr>
        <p:spPr>
          <a:xfrm>
            <a:off x="2094796" y="1482427"/>
            <a:ext cx="497700" cy="600"/>
          </a:xfrm>
          <a:prstGeom prst="bentConnector3">
            <a:avLst>
              <a:gd name="adj1" fmla="val 50006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0" name="Google Shape;180;p19"/>
          <p:cNvSpPr/>
          <p:nvPr/>
        </p:nvSpPr>
        <p:spPr>
          <a:xfrm>
            <a:off x="4113108" y="1319077"/>
            <a:ext cx="9174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Auto GRN create in SAP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003000" y="1319077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DC Delivery Plan Ready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003002" y="2362980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DN wise Picker &amp; Packer Assign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499871" y="2362980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DN wise Product Picking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045961" y="2362980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Product Packing &amp; Receipt Print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567440" y="3400368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Product Receive per Packing List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567440" y="2362980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Final Delivery Note Update in SAP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122493" y="3400368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Outlet DN Scan &amp; Packing List show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045961" y="3400368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Missing/Damage update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189641" y="2362980"/>
            <a:ext cx="9174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Product Loading &amp; Dispatch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499871" y="3400368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Acknowledgement from Delivery Man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l="3501" t="9248" r="3380" b="6753"/>
          <a:stretch/>
        </p:blipFill>
        <p:spPr>
          <a:xfrm>
            <a:off x="1212751" y="942870"/>
            <a:ext cx="871287" cy="3909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>
            <a:stCxn id="178" idx="3"/>
            <a:endCxn id="180" idx="1"/>
          </p:cNvCxnSpPr>
          <p:nvPr/>
        </p:nvCxnSpPr>
        <p:spPr>
          <a:xfrm>
            <a:off x="3594253" y="1482427"/>
            <a:ext cx="519000" cy="600"/>
          </a:xfrm>
          <a:prstGeom prst="bentConnector3">
            <a:avLst>
              <a:gd name="adj1" fmla="val 50006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3" name="Google Shape;193;p19"/>
          <p:cNvCxnSpPr>
            <a:stCxn id="180" idx="3"/>
            <a:endCxn id="177" idx="1"/>
          </p:cNvCxnSpPr>
          <p:nvPr/>
        </p:nvCxnSpPr>
        <p:spPr>
          <a:xfrm>
            <a:off x="5030508" y="1482427"/>
            <a:ext cx="469500" cy="600"/>
          </a:xfrm>
          <a:prstGeom prst="bentConnector3">
            <a:avLst>
              <a:gd name="adj1" fmla="val 50003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4" name="Google Shape;194;p19"/>
          <p:cNvCxnSpPr>
            <a:stCxn id="177" idx="3"/>
            <a:endCxn id="181" idx="1"/>
          </p:cNvCxnSpPr>
          <p:nvPr/>
        </p:nvCxnSpPr>
        <p:spPr>
          <a:xfrm>
            <a:off x="6551671" y="1482427"/>
            <a:ext cx="451200" cy="600"/>
          </a:xfrm>
          <a:prstGeom prst="bentConnector3">
            <a:avLst>
              <a:gd name="adj1" fmla="val 50010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Google Shape;195;p19"/>
          <p:cNvCxnSpPr>
            <a:stCxn id="181" idx="3"/>
            <a:endCxn id="182" idx="3"/>
          </p:cNvCxnSpPr>
          <p:nvPr/>
        </p:nvCxnSpPr>
        <p:spPr>
          <a:xfrm>
            <a:off x="8054800" y="1482427"/>
            <a:ext cx="600" cy="1044000"/>
          </a:xfrm>
          <a:prstGeom prst="bentConnector3">
            <a:avLst>
              <a:gd name="adj1" fmla="val 39687929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6" name="Google Shape;196;p19"/>
          <p:cNvCxnSpPr>
            <a:stCxn id="189" idx="1"/>
            <a:endCxn id="187" idx="1"/>
          </p:cNvCxnSpPr>
          <p:nvPr/>
        </p:nvCxnSpPr>
        <p:spPr>
          <a:xfrm flipH="1">
            <a:off x="1122441" y="2526330"/>
            <a:ext cx="67200" cy="1037400"/>
          </a:xfrm>
          <a:prstGeom prst="bentConnector3">
            <a:avLst>
              <a:gd name="adj1" fmla="val 454275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402" y="821063"/>
            <a:ext cx="512740" cy="51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 rotWithShape="1">
          <a:blip r:embed="rId5">
            <a:alphaModFix/>
          </a:blip>
          <a:srcRect b="7689"/>
          <a:stretch/>
        </p:blipFill>
        <p:spPr>
          <a:xfrm>
            <a:off x="4354113" y="917275"/>
            <a:ext cx="451233" cy="416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6">
            <a:alphaModFix/>
          </a:blip>
          <a:srcRect b="14734"/>
          <a:stretch/>
        </p:blipFill>
        <p:spPr>
          <a:xfrm flipH="1">
            <a:off x="1332477" y="1844689"/>
            <a:ext cx="631834" cy="538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0044" y="821063"/>
            <a:ext cx="280340" cy="13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4305" y="1855617"/>
            <a:ext cx="280340" cy="13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 rotWithShape="1">
          <a:blip r:embed="rId8">
            <a:alphaModFix/>
          </a:blip>
          <a:srcRect b="6393"/>
          <a:stretch/>
        </p:blipFill>
        <p:spPr>
          <a:xfrm>
            <a:off x="2867730" y="911422"/>
            <a:ext cx="451233" cy="42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/>
          <p:cNvPicPr preferRelativeResize="0"/>
          <p:nvPr/>
        </p:nvPicPr>
        <p:blipFill rotWithShape="1">
          <a:blip r:embed="rId9">
            <a:alphaModFix/>
          </a:blip>
          <a:srcRect b="8534"/>
          <a:stretch/>
        </p:blipFill>
        <p:spPr>
          <a:xfrm>
            <a:off x="7234413" y="795100"/>
            <a:ext cx="588975" cy="53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80054" y="1885693"/>
            <a:ext cx="497700" cy="4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58877" y="1949625"/>
            <a:ext cx="733790" cy="43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/>
          <p:cNvPicPr preferRelativeResize="0"/>
          <p:nvPr/>
        </p:nvPicPr>
        <p:blipFill rotWithShape="1">
          <a:blip r:embed="rId12">
            <a:alphaModFix/>
          </a:blip>
          <a:srcRect b="3176"/>
          <a:stretch/>
        </p:blipFill>
        <p:spPr>
          <a:xfrm>
            <a:off x="4323012" y="1901518"/>
            <a:ext cx="497700" cy="48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 rotWithShape="1">
          <a:blip r:embed="rId13">
            <a:alphaModFix/>
          </a:blip>
          <a:srcRect b="7630"/>
          <a:stretch/>
        </p:blipFill>
        <p:spPr>
          <a:xfrm>
            <a:off x="2814275" y="1867843"/>
            <a:ext cx="558132" cy="5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 rotWithShape="1">
          <a:blip r:embed="rId8">
            <a:alphaModFix/>
          </a:blip>
          <a:srcRect b="6402"/>
          <a:stretch/>
        </p:blipFill>
        <p:spPr>
          <a:xfrm flipH="1">
            <a:off x="1422777" y="2970455"/>
            <a:ext cx="451233" cy="42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 rotWithShape="1">
          <a:blip r:embed="rId14">
            <a:alphaModFix/>
          </a:blip>
          <a:srcRect b="872"/>
          <a:stretch/>
        </p:blipFill>
        <p:spPr>
          <a:xfrm>
            <a:off x="2858235" y="2926742"/>
            <a:ext cx="470213" cy="466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84497" y="3008855"/>
            <a:ext cx="374729" cy="3747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19"/>
          <p:cNvCxnSpPr>
            <a:stCxn id="182" idx="1"/>
            <a:endCxn id="183" idx="3"/>
          </p:cNvCxnSpPr>
          <p:nvPr/>
        </p:nvCxnSpPr>
        <p:spPr>
          <a:xfrm flipH="1">
            <a:off x="6551802" y="2526330"/>
            <a:ext cx="451200" cy="600"/>
          </a:xfrm>
          <a:prstGeom prst="bentConnector3">
            <a:avLst>
              <a:gd name="adj1" fmla="val 50011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2" name="Google Shape;212;p19"/>
          <p:cNvCxnSpPr>
            <a:stCxn id="183" idx="1"/>
            <a:endCxn id="184" idx="3"/>
          </p:cNvCxnSpPr>
          <p:nvPr/>
        </p:nvCxnSpPr>
        <p:spPr>
          <a:xfrm flipH="1">
            <a:off x="5097871" y="2526330"/>
            <a:ext cx="402000" cy="600"/>
          </a:xfrm>
          <a:prstGeom prst="bentConnector3">
            <a:avLst>
              <a:gd name="adj1" fmla="val 50003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3" name="Google Shape;213;p19"/>
          <p:cNvCxnSpPr>
            <a:stCxn id="184" idx="1"/>
            <a:endCxn id="186" idx="3"/>
          </p:cNvCxnSpPr>
          <p:nvPr/>
        </p:nvCxnSpPr>
        <p:spPr>
          <a:xfrm flipH="1">
            <a:off x="3619361" y="2526330"/>
            <a:ext cx="426600" cy="600"/>
          </a:xfrm>
          <a:prstGeom prst="bentConnector3">
            <a:avLst>
              <a:gd name="adj1" fmla="val 49991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4" name="Google Shape;214;p19"/>
          <p:cNvCxnSpPr>
            <a:stCxn id="186" idx="1"/>
            <a:endCxn id="189" idx="3"/>
          </p:cNvCxnSpPr>
          <p:nvPr/>
        </p:nvCxnSpPr>
        <p:spPr>
          <a:xfrm flipH="1">
            <a:off x="2106940" y="2526330"/>
            <a:ext cx="460500" cy="600"/>
          </a:xfrm>
          <a:prstGeom prst="bentConnector3">
            <a:avLst>
              <a:gd name="adj1" fmla="val 49992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5" name="Google Shape;215;p19"/>
          <p:cNvCxnSpPr>
            <a:stCxn id="187" idx="3"/>
            <a:endCxn id="185" idx="1"/>
          </p:cNvCxnSpPr>
          <p:nvPr/>
        </p:nvCxnSpPr>
        <p:spPr>
          <a:xfrm>
            <a:off x="2174293" y="3563718"/>
            <a:ext cx="393000" cy="600"/>
          </a:xfrm>
          <a:prstGeom prst="bentConnector3">
            <a:avLst>
              <a:gd name="adj1" fmla="val 49991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6" name="Google Shape;216;p19"/>
          <p:cNvCxnSpPr>
            <a:stCxn id="185" idx="3"/>
            <a:endCxn id="188" idx="1"/>
          </p:cNvCxnSpPr>
          <p:nvPr/>
        </p:nvCxnSpPr>
        <p:spPr>
          <a:xfrm>
            <a:off x="3619240" y="3563718"/>
            <a:ext cx="426600" cy="600"/>
          </a:xfrm>
          <a:prstGeom prst="bentConnector3">
            <a:avLst>
              <a:gd name="adj1" fmla="val 49991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7" name="Google Shape;217;p19"/>
          <p:cNvCxnSpPr>
            <a:stCxn id="188" idx="3"/>
            <a:endCxn id="190" idx="1"/>
          </p:cNvCxnSpPr>
          <p:nvPr/>
        </p:nvCxnSpPr>
        <p:spPr>
          <a:xfrm>
            <a:off x="5097761" y="3563718"/>
            <a:ext cx="402000" cy="600"/>
          </a:xfrm>
          <a:prstGeom prst="bentConnector3">
            <a:avLst>
              <a:gd name="adj1" fmla="val 50003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8" name="Google Shape;218;p19"/>
          <p:cNvCxnSpPr>
            <a:stCxn id="190" idx="3"/>
            <a:endCxn id="219" idx="1"/>
          </p:cNvCxnSpPr>
          <p:nvPr/>
        </p:nvCxnSpPr>
        <p:spPr>
          <a:xfrm>
            <a:off x="6551671" y="3563718"/>
            <a:ext cx="451200" cy="600"/>
          </a:xfrm>
          <a:prstGeom prst="bentConnector3">
            <a:avLst>
              <a:gd name="adj1" fmla="val 50000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220" name="Google Shape;22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4305" y="821063"/>
            <a:ext cx="280340" cy="13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2739" y="2895160"/>
            <a:ext cx="280340" cy="13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7002996" y="3400357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Auto GRN &amp; TPN create in SAP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4" name="Google Shape;224;p19"/>
          <p:cNvPicPr preferRelativeResize="0"/>
          <p:nvPr/>
        </p:nvPicPr>
        <p:blipFill rotWithShape="1">
          <a:blip r:embed="rId5">
            <a:alphaModFix/>
          </a:blip>
          <a:srcRect b="7689"/>
          <a:stretch/>
        </p:blipFill>
        <p:spPr>
          <a:xfrm>
            <a:off x="7303280" y="2976318"/>
            <a:ext cx="451233" cy="416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1916" y="2895148"/>
            <a:ext cx="280340" cy="13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49337" y="3007520"/>
            <a:ext cx="402080" cy="40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17827" y="3275529"/>
            <a:ext cx="117307" cy="11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215213" y="3198018"/>
            <a:ext cx="69969" cy="69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>
            <a:hlinkClick r:id="rId20"/>
          </p:cNvPr>
          <p:cNvSpPr txBox="1"/>
          <p:nvPr/>
        </p:nvSpPr>
        <p:spPr>
          <a:xfrm>
            <a:off x="342025" y="4930475"/>
            <a:ext cx="4026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982163" y="4500983"/>
            <a:ext cx="1093500" cy="314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0150" tIns="100150" rIns="100150" bIns="100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3" b="1">
                <a:latin typeface="Poppins"/>
                <a:ea typeface="Poppins"/>
                <a:cs typeface="Poppins"/>
                <a:sym typeface="Poppins"/>
              </a:rPr>
              <a:t>Deshelving Task Create (Near Expiry)</a:t>
            </a:r>
            <a:endParaRPr sz="603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1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317924" y="4086517"/>
            <a:ext cx="381500" cy="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5590176" y="4503083"/>
            <a:ext cx="871200" cy="3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8850" tIns="98850" rIns="98850" bIns="9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5" b="1">
                <a:latin typeface="Poppins"/>
                <a:ea typeface="Poppins"/>
                <a:cs typeface="Poppins"/>
                <a:sym typeface="Poppins"/>
              </a:rPr>
              <a:t>BIN &amp; Article Scan</a:t>
            </a:r>
            <a:endParaRPr sz="595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3" name="Google Shape;233;p19"/>
          <p:cNvGrpSpPr/>
          <p:nvPr/>
        </p:nvGrpSpPr>
        <p:grpSpPr>
          <a:xfrm>
            <a:off x="5746151" y="4087646"/>
            <a:ext cx="559538" cy="379241"/>
            <a:chOff x="2568850" y="2747414"/>
            <a:chExt cx="658125" cy="446061"/>
          </a:xfrm>
        </p:grpSpPr>
        <p:pic>
          <p:nvPicPr>
            <p:cNvPr id="234" name="Google Shape;234;p19"/>
            <p:cNvPicPr preferRelativeResize="0"/>
            <p:nvPr/>
          </p:nvPicPr>
          <p:blipFill rotWithShape="1">
            <a:blip r:embed="rId23">
              <a:alphaModFix/>
            </a:blip>
            <a:srcRect b="13247"/>
            <a:stretch/>
          </p:blipFill>
          <p:spPr>
            <a:xfrm>
              <a:off x="2568850" y="2747414"/>
              <a:ext cx="514200" cy="446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9"/>
            <p:cNvPicPr preferRelativeResize="0"/>
            <p:nvPr/>
          </p:nvPicPr>
          <p:blipFill rotWithShape="1">
            <a:blip r:embed="rId8">
              <a:alphaModFix/>
            </a:blip>
            <a:srcRect b="6393"/>
            <a:stretch/>
          </p:blipFill>
          <p:spPr>
            <a:xfrm>
              <a:off x="2968653" y="2951675"/>
              <a:ext cx="258322" cy="241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19"/>
          <p:cNvSpPr/>
          <p:nvPr/>
        </p:nvSpPr>
        <p:spPr>
          <a:xfrm>
            <a:off x="4087450" y="4504433"/>
            <a:ext cx="968700" cy="30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5850" tIns="95850" rIns="95850" bIns="95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7" b="1">
                <a:latin typeface="Poppins"/>
                <a:ea typeface="Poppins"/>
                <a:cs typeface="Poppins"/>
                <a:sym typeface="Poppins"/>
              </a:rPr>
              <a:t>Send to Non Conforming Zone</a:t>
            </a:r>
            <a:endParaRPr sz="577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7" name="Google Shape;237;p1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392688" y="4080765"/>
            <a:ext cx="393004" cy="3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2609050" y="4507733"/>
            <a:ext cx="968700" cy="300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5850" tIns="95850" rIns="95850" bIns="95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7" b="1">
                <a:latin typeface="Poppins"/>
                <a:ea typeface="Poppins"/>
                <a:cs typeface="Poppins"/>
                <a:sym typeface="Poppins"/>
              </a:rPr>
              <a:t>Mark as</a:t>
            </a:r>
            <a:br>
              <a:rPr lang="en" sz="577" b="1">
                <a:latin typeface="Poppins"/>
                <a:ea typeface="Poppins"/>
                <a:cs typeface="Poppins"/>
                <a:sym typeface="Poppins"/>
              </a:rPr>
            </a:br>
            <a:r>
              <a:rPr lang="en" sz="577" b="1">
                <a:latin typeface="Poppins"/>
                <a:ea typeface="Poppins"/>
                <a:cs typeface="Poppins"/>
                <a:sym typeface="Poppins"/>
              </a:rPr>
              <a:t>RTV/ TPN/ Wastage</a:t>
            </a:r>
            <a:endParaRPr sz="577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1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900937" y="4081976"/>
            <a:ext cx="362083" cy="39058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/>
          <p:nvPr/>
        </p:nvSpPr>
        <p:spPr>
          <a:xfrm>
            <a:off x="1098195" y="4504433"/>
            <a:ext cx="1100400" cy="30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7925" tIns="97925" rIns="97925" bIns="97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" b="1">
                <a:latin typeface="Poppins"/>
                <a:ea typeface="Poppins"/>
                <a:cs typeface="Poppins"/>
                <a:sym typeface="Poppins"/>
              </a:rPr>
              <a:t>Auto RTV, TPN, Wastage create in SAP</a:t>
            </a:r>
            <a:endParaRPr sz="59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1" name="Google Shape;241;p19"/>
          <p:cNvPicPr preferRelativeResize="0"/>
          <p:nvPr/>
        </p:nvPicPr>
        <p:blipFill rotWithShape="1">
          <a:blip r:embed="rId5">
            <a:alphaModFix/>
          </a:blip>
          <a:srcRect b="7689"/>
          <a:stretch/>
        </p:blipFill>
        <p:spPr>
          <a:xfrm>
            <a:off x="1436293" y="4081331"/>
            <a:ext cx="424517" cy="39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5897" y="4003111"/>
            <a:ext cx="263740" cy="130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9"/>
          <p:cNvCxnSpPr>
            <a:stCxn id="232" idx="1"/>
            <a:endCxn id="236" idx="3"/>
          </p:cNvCxnSpPr>
          <p:nvPr/>
        </p:nvCxnSpPr>
        <p:spPr>
          <a:xfrm flipH="1">
            <a:off x="5056176" y="4658033"/>
            <a:ext cx="534000" cy="600"/>
          </a:xfrm>
          <a:prstGeom prst="bentConnector3">
            <a:avLst>
              <a:gd name="adj1" fmla="val 50002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4" name="Google Shape;244;p19"/>
          <p:cNvCxnSpPr>
            <a:stCxn id="230" idx="1"/>
            <a:endCxn id="232" idx="3"/>
          </p:cNvCxnSpPr>
          <p:nvPr/>
        </p:nvCxnSpPr>
        <p:spPr>
          <a:xfrm flipH="1">
            <a:off x="6461363" y="4658033"/>
            <a:ext cx="520800" cy="600"/>
          </a:xfrm>
          <a:prstGeom prst="bentConnector3">
            <a:avLst>
              <a:gd name="adj1" fmla="val 49999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5" name="Google Shape;245;p19"/>
          <p:cNvCxnSpPr>
            <a:stCxn id="236" idx="1"/>
            <a:endCxn id="238" idx="3"/>
          </p:cNvCxnSpPr>
          <p:nvPr/>
        </p:nvCxnSpPr>
        <p:spPr>
          <a:xfrm flipH="1">
            <a:off x="3577750" y="4658033"/>
            <a:ext cx="509700" cy="600"/>
          </a:xfrm>
          <a:prstGeom prst="bentConnector3">
            <a:avLst>
              <a:gd name="adj1" fmla="val 50000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6" name="Google Shape;246;p19"/>
          <p:cNvCxnSpPr>
            <a:stCxn id="238" idx="1"/>
            <a:endCxn id="240" idx="3"/>
          </p:cNvCxnSpPr>
          <p:nvPr/>
        </p:nvCxnSpPr>
        <p:spPr>
          <a:xfrm flipH="1">
            <a:off x="2198650" y="4658033"/>
            <a:ext cx="410400" cy="600"/>
          </a:xfrm>
          <a:prstGeom prst="bentConnector3">
            <a:avLst>
              <a:gd name="adj1" fmla="val 50007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7" name="Google Shape;247;p19"/>
          <p:cNvCxnSpPr>
            <a:stCxn id="223" idx="3"/>
            <a:endCxn id="230" idx="3"/>
          </p:cNvCxnSpPr>
          <p:nvPr/>
        </p:nvCxnSpPr>
        <p:spPr>
          <a:xfrm>
            <a:off x="8054796" y="3563707"/>
            <a:ext cx="21000" cy="1094400"/>
          </a:xfrm>
          <a:prstGeom prst="bentConnector3">
            <a:avLst>
              <a:gd name="adj1" fmla="val 1233295"/>
            </a:avLst>
          </a:prstGeom>
          <a:noFill/>
          <a:ln w="8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8" name="Google Shape;24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8134586" y="1921955"/>
            <a:ext cx="1051800" cy="32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04100" tIns="104100" rIns="104100" bIns="10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7" b="1">
                <a:latin typeface="Poppins"/>
                <a:ea typeface="Poppins"/>
                <a:cs typeface="Poppins"/>
                <a:sym typeface="Poppins"/>
              </a:rPr>
              <a:t>STOs Combined into a Single DN</a:t>
            </a:r>
            <a:endParaRPr sz="627"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Developed Features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0"/>
          <p:cNvSpPr txBox="1">
            <a:spLocks noGrp="1"/>
          </p:cNvSpPr>
          <p:nvPr>
            <p:ph type="body" idx="1"/>
          </p:nvPr>
        </p:nvSpPr>
        <p:spPr>
          <a:xfrm>
            <a:off x="178675" y="765525"/>
            <a:ext cx="3907800" cy="39258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/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D9EAD3"/>
                </a:highlight>
                <a:latin typeface="Poppins"/>
                <a:ea typeface="Poppins"/>
                <a:cs typeface="Poppins"/>
                <a:sym typeface="Poppins"/>
              </a:rPr>
              <a:t>Launched &amp; Used</a:t>
            </a:r>
            <a:endParaRPr sz="1200" b="1">
              <a:solidFill>
                <a:schemeClr val="dk1"/>
              </a:solidFill>
              <a:highlight>
                <a:srgbClr val="D9EAD3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Purchase Order Receiving with GRN create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Vendor Challan Information Capture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Show SAP Stock, EPS MRP with Stock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Survey (Physical Stock, Picture Collection)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F4CCCC"/>
                </a:highlight>
                <a:latin typeface="Poppins"/>
                <a:ea typeface="Poppins"/>
                <a:cs typeface="Poppins"/>
                <a:sym typeface="Poppins"/>
              </a:rPr>
              <a:t>Launched but Not Used</a:t>
            </a:r>
            <a:endParaRPr sz="1200" b="1">
              <a:solidFill>
                <a:schemeClr val="dk1"/>
              </a:solidFill>
              <a:highlight>
                <a:srgbClr val="F4CCCC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Site wise BIN, Gondola creation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BIN wise Product Shelving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Discrepancy Report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wise BIN Mapping &amp; Adding Old Inventory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Delivery Note Receiving with Auto GRN &amp; TPN create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Outlet Damaged Item acknowledgement by Delivery Man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271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Mobile Application with Camera Scanner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>
            <a:hlinkClick r:id="rId4"/>
          </p:cNvPr>
          <p:cNvSpPr txBox="1"/>
          <p:nvPr/>
        </p:nvSpPr>
        <p:spPr>
          <a:xfrm>
            <a:off x="342025" y="4930475"/>
            <a:ext cx="4026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1" name="Google Shape;261;p20"/>
          <p:cNvGrpSpPr/>
          <p:nvPr/>
        </p:nvGrpSpPr>
        <p:grpSpPr>
          <a:xfrm>
            <a:off x="6724575" y="749800"/>
            <a:ext cx="2135375" cy="3814752"/>
            <a:chOff x="6724575" y="826000"/>
            <a:chExt cx="2135375" cy="3814752"/>
          </a:xfrm>
        </p:grpSpPr>
        <p:pic>
          <p:nvPicPr>
            <p:cNvPr id="262" name="Google Shape;262;p20"/>
            <p:cNvPicPr preferRelativeResize="0"/>
            <p:nvPr/>
          </p:nvPicPr>
          <p:blipFill rotWithShape="1">
            <a:blip r:embed="rId6">
              <a:alphaModFix/>
            </a:blip>
            <a:srcRect t="3672" b="17706"/>
            <a:stretch/>
          </p:blipFill>
          <p:spPr>
            <a:xfrm>
              <a:off x="6724575" y="826000"/>
              <a:ext cx="2135375" cy="3814752"/>
            </a:xfrm>
            <a:prstGeom prst="rect">
              <a:avLst/>
            </a:prstGeom>
            <a:noFill/>
            <a:ln w="9525" cap="flat" cmpd="sng">
              <a:solidFill>
                <a:srgbClr val="CFCFC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63" name="Google Shape;263;p20"/>
            <p:cNvPicPr preferRelativeResize="0"/>
            <p:nvPr/>
          </p:nvPicPr>
          <p:blipFill rotWithShape="1">
            <a:blip r:embed="rId7">
              <a:alphaModFix/>
            </a:blip>
            <a:srcRect l="3955" t="26999" r="3427" b="67237"/>
            <a:stretch/>
          </p:blipFill>
          <p:spPr>
            <a:xfrm>
              <a:off x="6793650" y="1685625"/>
              <a:ext cx="2005425" cy="245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0"/>
            <p:cNvPicPr preferRelativeResize="0"/>
            <p:nvPr/>
          </p:nvPicPr>
          <p:blipFill rotWithShape="1">
            <a:blip r:embed="rId7">
              <a:alphaModFix/>
            </a:blip>
            <a:srcRect l="23712" t="77455" r="63368" b="29118"/>
            <a:stretch/>
          </p:blipFill>
          <p:spPr>
            <a:xfrm rot="10800000" flipH="1">
              <a:off x="6834350" y="2838650"/>
              <a:ext cx="912050" cy="27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0"/>
            <p:cNvPicPr preferRelativeResize="0"/>
            <p:nvPr/>
          </p:nvPicPr>
          <p:blipFill rotWithShape="1">
            <a:blip r:embed="rId7">
              <a:alphaModFix/>
            </a:blip>
            <a:srcRect l="23712" t="77455" r="63368" b="29118"/>
            <a:stretch/>
          </p:blipFill>
          <p:spPr>
            <a:xfrm rot="10800000" flipH="1">
              <a:off x="7844300" y="2838650"/>
              <a:ext cx="912050" cy="27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0"/>
            <p:cNvPicPr preferRelativeResize="0"/>
            <p:nvPr/>
          </p:nvPicPr>
          <p:blipFill rotWithShape="1">
            <a:blip r:embed="rId7">
              <a:alphaModFix/>
            </a:blip>
            <a:srcRect l="3955" t="57394" r="3427" b="5412"/>
            <a:stretch/>
          </p:blipFill>
          <p:spPr>
            <a:xfrm>
              <a:off x="6793650" y="2991425"/>
              <a:ext cx="2000975" cy="1579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0"/>
            <p:cNvPicPr preferRelativeResize="0"/>
            <p:nvPr/>
          </p:nvPicPr>
          <p:blipFill rotWithShape="1">
            <a:blip r:embed="rId7">
              <a:alphaModFix/>
            </a:blip>
            <a:srcRect l="8131" t="57394" r="22607" b="45655"/>
            <a:stretch/>
          </p:blipFill>
          <p:spPr>
            <a:xfrm rot="10800000" flipH="1">
              <a:off x="6886000" y="2861949"/>
              <a:ext cx="1496375" cy="1294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" name="Google Shape;268;p20"/>
          <p:cNvGrpSpPr/>
          <p:nvPr/>
        </p:nvGrpSpPr>
        <p:grpSpPr>
          <a:xfrm>
            <a:off x="4302854" y="749800"/>
            <a:ext cx="2315133" cy="3814748"/>
            <a:chOff x="4302854" y="826000"/>
            <a:chExt cx="2315133" cy="3814748"/>
          </a:xfrm>
        </p:grpSpPr>
        <p:pic>
          <p:nvPicPr>
            <p:cNvPr id="269" name="Google Shape;269;p20"/>
            <p:cNvPicPr preferRelativeResize="0"/>
            <p:nvPr/>
          </p:nvPicPr>
          <p:blipFill rotWithShape="1">
            <a:blip r:embed="rId8">
              <a:alphaModFix/>
            </a:blip>
            <a:srcRect b="21954"/>
            <a:stretch/>
          </p:blipFill>
          <p:spPr>
            <a:xfrm>
              <a:off x="4302854" y="826000"/>
              <a:ext cx="2315133" cy="3814748"/>
            </a:xfrm>
            <a:prstGeom prst="rect">
              <a:avLst/>
            </a:prstGeom>
            <a:noFill/>
            <a:ln>
              <a:noFill/>
            </a:ln>
            <a:effectLst>
              <a:outerShdw blurRad="28575" dist="9525" dir="540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270" name="Google Shape;270;p20"/>
            <p:cNvSpPr/>
            <p:nvPr/>
          </p:nvSpPr>
          <p:spPr>
            <a:xfrm>
              <a:off x="5100600" y="3661100"/>
              <a:ext cx="748200" cy="90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27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/>
          <p:nvPr/>
        </p:nvSpPr>
        <p:spPr>
          <a:xfrm>
            <a:off x="8370651" y="2398100"/>
            <a:ext cx="7734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7808425" y="2398100"/>
            <a:ext cx="5622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7181018" y="2398100"/>
            <a:ext cx="6258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Operations App - Roadmap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0" name="Google Shape;330;p24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1" name="Google Shape;331;p24"/>
          <p:cNvGrpSpPr/>
          <p:nvPr/>
        </p:nvGrpSpPr>
        <p:grpSpPr>
          <a:xfrm>
            <a:off x="-1452123" y="3680728"/>
            <a:ext cx="2930970" cy="2732428"/>
            <a:chOff x="7399350" y="3319325"/>
            <a:chExt cx="2742300" cy="2742300"/>
          </a:xfrm>
        </p:grpSpPr>
        <p:sp>
          <p:nvSpPr>
            <p:cNvPr id="332" name="Google Shape;332;p24"/>
            <p:cNvSpPr/>
            <p:nvPr/>
          </p:nvSpPr>
          <p:spPr>
            <a:xfrm>
              <a:off x="7399350" y="3319325"/>
              <a:ext cx="2742300" cy="2742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350" tIns="92350" rIns="92350" bIns="923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7743900" y="3663875"/>
              <a:ext cx="2053200" cy="2053200"/>
            </a:xfrm>
            <a:prstGeom prst="ellipse">
              <a:avLst/>
            </a:prstGeom>
            <a:solidFill>
              <a:srgbClr val="EC1B21"/>
            </a:solidFill>
            <a:ln>
              <a:noFill/>
            </a:ln>
          </p:spPr>
          <p:txBody>
            <a:bodyPr spcFirstLastPara="1" wrap="square" lIns="92350" tIns="92350" rIns="92350" bIns="923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334" name="Google Shape;334;p24"/>
          <p:cNvSpPr txBox="1"/>
          <p:nvPr/>
        </p:nvSpPr>
        <p:spPr>
          <a:xfrm>
            <a:off x="6305024" y="4817115"/>
            <a:ext cx="25548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Engineer: Sayed, Upol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916562" y="2052027"/>
            <a:ext cx="745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21 Dec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779623" y="2821647"/>
            <a:ext cx="10968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Final &amp; Design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Create PRD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UI Design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1396689" y="2535247"/>
            <a:ext cx="836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Jan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1318049" y="1342725"/>
            <a:ext cx="11583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Development Start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DC App Development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BIN Creation Development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680627" y="2398111"/>
            <a:ext cx="12948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1279500" y="2398112"/>
            <a:ext cx="8814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1762351" y="2398112"/>
            <a:ext cx="8367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323911" y="2535247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14 Dec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251200" y="1363875"/>
            <a:ext cx="9867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Outlet &amp; DC Visit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- Issue Find out</a:t>
            </a:r>
            <a:br>
              <a:rPr lang="en" sz="600"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- Epic Documentation Start</a:t>
            </a:r>
            <a:endParaRPr sz="600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4" name="Google Shape;344;p24"/>
          <p:cNvGrpSpPr/>
          <p:nvPr/>
        </p:nvGrpSpPr>
        <p:grpSpPr>
          <a:xfrm>
            <a:off x="643045" y="2118617"/>
            <a:ext cx="92400" cy="411825"/>
            <a:chOff x="845575" y="2563700"/>
            <a:chExt cx="92400" cy="411825"/>
          </a:xfrm>
        </p:grpSpPr>
        <p:sp>
          <p:nvSpPr>
            <p:cNvPr id="345" name="Google Shape;345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6" name="Google Shape;346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7" name="Google Shape;347;p24"/>
          <p:cNvSpPr/>
          <p:nvPr/>
        </p:nvSpPr>
        <p:spPr>
          <a:xfrm>
            <a:off x="2240947" y="2398100"/>
            <a:ext cx="9834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1813357" y="2052027"/>
            <a:ext cx="836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16 Jan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1831100" y="2821650"/>
            <a:ext cx="10353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v0.1 Launching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BIN Creation Launch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User Training</a:t>
            </a:r>
            <a:endParaRPr sz="6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6194836" y="2535240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 Jul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6012263" y="1325525"/>
            <a:ext cx="11826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v2.0</a:t>
            </a:r>
            <a:r>
              <a:rPr lang="en" sz="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Launching</a:t>
            </a:r>
            <a:endParaRPr sz="8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6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Outlet Deshelving, RTV, TPN, Wastage Creation Process Launch in all Outlet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Mobile Application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2" name="Google Shape;352;p24"/>
          <p:cNvGrpSpPr/>
          <p:nvPr/>
        </p:nvGrpSpPr>
        <p:grpSpPr>
          <a:xfrm rot="10800000">
            <a:off x="2199241" y="2398191"/>
            <a:ext cx="92400" cy="411825"/>
            <a:chOff x="2072481" y="2563700"/>
            <a:chExt cx="92400" cy="411825"/>
          </a:xfrm>
        </p:grpSpPr>
        <p:cxnSp>
          <p:nvCxnSpPr>
            <p:cNvPr id="353" name="Google Shape;353;p24"/>
            <p:cNvCxnSpPr/>
            <p:nvPr/>
          </p:nvCxnSpPr>
          <p:spPr>
            <a:xfrm>
              <a:off x="2118681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4" name="Google Shape;354;p24"/>
            <p:cNvSpPr/>
            <p:nvPr/>
          </p:nvSpPr>
          <p:spPr>
            <a:xfrm>
              <a:off x="2072481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24"/>
          <p:cNvSpPr/>
          <p:nvPr/>
        </p:nvSpPr>
        <p:spPr>
          <a:xfrm>
            <a:off x="3224351" y="2398100"/>
            <a:ext cx="7299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3954350" y="2398100"/>
            <a:ext cx="10353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2923232" y="2535247"/>
            <a:ext cx="6831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24 Jun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2733326" y="1463900"/>
            <a:ext cx="137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v1.0 Launching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PO Receiving &amp; Shelving Production Server Launch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UAT on Receiving &amp; Shelving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Outlet App Pilot Launch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User Training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9" name="Google Shape;359;p24"/>
          <p:cNvGrpSpPr/>
          <p:nvPr/>
        </p:nvGrpSpPr>
        <p:grpSpPr>
          <a:xfrm>
            <a:off x="3176218" y="2118617"/>
            <a:ext cx="92400" cy="411825"/>
            <a:chOff x="845575" y="2563700"/>
            <a:chExt cx="92400" cy="411825"/>
          </a:xfrm>
        </p:grpSpPr>
        <p:sp>
          <p:nvSpPr>
            <p:cNvPr id="360" name="Google Shape;360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1" name="Google Shape;361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62" name="Google Shape;362;p24"/>
          <p:cNvSpPr/>
          <p:nvPr/>
        </p:nvSpPr>
        <p:spPr>
          <a:xfrm>
            <a:off x="4989750" y="2397125"/>
            <a:ext cx="4821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24"/>
          <p:cNvGrpSpPr/>
          <p:nvPr/>
        </p:nvGrpSpPr>
        <p:grpSpPr>
          <a:xfrm>
            <a:off x="4946478" y="2118617"/>
            <a:ext cx="92400" cy="411825"/>
            <a:chOff x="845575" y="2563700"/>
            <a:chExt cx="92400" cy="411825"/>
          </a:xfrm>
        </p:grpSpPr>
        <p:cxnSp>
          <p:nvCxnSpPr>
            <p:cNvPr id="364" name="Google Shape;364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5" name="Google Shape;365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24"/>
          <p:cNvSpPr txBox="1"/>
          <p:nvPr/>
        </p:nvSpPr>
        <p:spPr>
          <a:xfrm>
            <a:off x="4639753" y="2534257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31 Dec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4578400" y="1363875"/>
            <a:ext cx="12441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v1.1 Pilot Re-Launching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DC Processing Part Full Launching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User Training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8" name="Google Shape;368;p24"/>
          <p:cNvGrpSpPr/>
          <p:nvPr/>
        </p:nvGrpSpPr>
        <p:grpSpPr>
          <a:xfrm rot="10800000">
            <a:off x="1237788" y="2398191"/>
            <a:ext cx="92400" cy="411825"/>
            <a:chOff x="2072481" y="2563700"/>
            <a:chExt cx="92400" cy="411825"/>
          </a:xfrm>
        </p:grpSpPr>
        <p:cxnSp>
          <p:nvCxnSpPr>
            <p:cNvPr id="369" name="Google Shape;369;p24"/>
            <p:cNvCxnSpPr/>
            <p:nvPr/>
          </p:nvCxnSpPr>
          <p:spPr>
            <a:xfrm>
              <a:off x="2118681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0" name="Google Shape;370;p24"/>
            <p:cNvSpPr/>
            <p:nvPr/>
          </p:nvSpPr>
          <p:spPr>
            <a:xfrm>
              <a:off x="2072481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24"/>
          <p:cNvGrpSpPr/>
          <p:nvPr/>
        </p:nvGrpSpPr>
        <p:grpSpPr>
          <a:xfrm>
            <a:off x="1712495" y="2118617"/>
            <a:ext cx="92400" cy="411825"/>
            <a:chOff x="845575" y="2563700"/>
            <a:chExt cx="92400" cy="411825"/>
          </a:xfrm>
        </p:grpSpPr>
        <p:sp>
          <p:nvSpPr>
            <p:cNvPr id="372" name="Google Shape;372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73" name="Google Shape;373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4" name="Google Shape;374;p24"/>
          <p:cNvGrpSpPr/>
          <p:nvPr/>
        </p:nvGrpSpPr>
        <p:grpSpPr>
          <a:xfrm rot="10800000">
            <a:off x="3907855" y="2398191"/>
            <a:ext cx="92400" cy="411825"/>
            <a:chOff x="2070100" y="2563700"/>
            <a:chExt cx="92400" cy="411825"/>
          </a:xfrm>
        </p:grpSpPr>
        <p:cxnSp>
          <p:nvCxnSpPr>
            <p:cNvPr id="375" name="Google Shape;375;p24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6" name="Google Shape;376;p24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24"/>
          <p:cNvSpPr txBox="1"/>
          <p:nvPr/>
        </p:nvSpPr>
        <p:spPr>
          <a:xfrm>
            <a:off x="3583487" y="2052027"/>
            <a:ext cx="74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24 Sep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471950" y="2398100"/>
            <a:ext cx="1096800" cy="1335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3485506" y="2821647"/>
            <a:ext cx="12441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v1.1 Pilot Launching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DC Processing Full Testing in Production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UAT on Picking &amp; Packing, Audit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0" name="Google Shape;380;p24"/>
          <p:cNvGrpSpPr/>
          <p:nvPr/>
        </p:nvGrpSpPr>
        <p:grpSpPr>
          <a:xfrm rot="10800000">
            <a:off x="5421392" y="2398191"/>
            <a:ext cx="92400" cy="411825"/>
            <a:chOff x="2070100" y="2563700"/>
            <a:chExt cx="92400" cy="411825"/>
          </a:xfrm>
        </p:grpSpPr>
        <p:cxnSp>
          <p:nvCxnSpPr>
            <p:cNvPr id="381" name="Google Shape;381;p24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82" name="Google Shape;382;p24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24"/>
          <p:cNvSpPr txBox="1"/>
          <p:nvPr/>
        </p:nvSpPr>
        <p:spPr>
          <a:xfrm>
            <a:off x="5162288" y="2038675"/>
            <a:ext cx="6258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 Jan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5099860" y="2821650"/>
            <a:ext cx="1096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v2.0  Pilot Launching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Deshevling, TPN &amp; RTV in SAP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User Feedback Collection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6568750" y="2398100"/>
            <a:ext cx="625800" cy="133500"/>
          </a:xfrm>
          <a:prstGeom prst="rect">
            <a:avLst/>
          </a:prstGeom>
          <a:solidFill>
            <a:srgbClr val="D83729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24"/>
          <p:cNvGrpSpPr/>
          <p:nvPr/>
        </p:nvGrpSpPr>
        <p:grpSpPr>
          <a:xfrm>
            <a:off x="6521540" y="2118617"/>
            <a:ext cx="92400" cy="411825"/>
            <a:chOff x="845575" y="2563700"/>
            <a:chExt cx="92400" cy="411825"/>
          </a:xfrm>
        </p:grpSpPr>
        <p:cxnSp>
          <p:nvCxnSpPr>
            <p:cNvPr id="387" name="Google Shape;387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88" name="Google Shape;388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24"/>
          <p:cNvGrpSpPr/>
          <p:nvPr/>
        </p:nvGrpSpPr>
        <p:grpSpPr>
          <a:xfrm rot="10800000">
            <a:off x="7142134" y="2398191"/>
            <a:ext cx="92400" cy="411825"/>
            <a:chOff x="2070100" y="2563700"/>
            <a:chExt cx="92400" cy="411825"/>
          </a:xfrm>
        </p:grpSpPr>
        <p:cxnSp>
          <p:nvCxnSpPr>
            <p:cNvPr id="390" name="Google Shape;390;p24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91" name="Google Shape;391;p24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4"/>
          <p:cNvSpPr txBox="1"/>
          <p:nvPr/>
        </p:nvSpPr>
        <p:spPr>
          <a:xfrm>
            <a:off x="6846785" y="2038664"/>
            <a:ext cx="683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20 Sep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6732100" y="2821650"/>
            <a:ext cx="10266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v2.1 </a:t>
            </a:r>
            <a:r>
              <a:rPr lang="en" sz="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Launching</a:t>
            </a:r>
            <a:endParaRPr sz="8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6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DC Processing Part Full Launching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Outlet DN Receiving Full Launch in All Outlet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User Onboarding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4" name="Google Shape;394;p24"/>
          <p:cNvGrpSpPr/>
          <p:nvPr/>
        </p:nvGrpSpPr>
        <p:grpSpPr>
          <a:xfrm>
            <a:off x="7762529" y="2118617"/>
            <a:ext cx="92400" cy="411825"/>
            <a:chOff x="845575" y="2563700"/>
            <a:chExt cx="92400" cy="411825"/>
          </a:xfrm>
        </p:grpSpPr>
        <p:cxnSp>
          <p:nvCxnSpPr>
            <p:cNvPr id="395" name="Google Shape;395;p24"/>
            <p:cNvCxnSpPr/>
            <p:nvPr/>
          </p:nvCxnSpPr>
          <p:spPr>
            <a:xfrm>
              <a:off x="891775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96" name="Google Shape;396;p24"/>
            <p:cNvSpPr/>
            <p:nvPr/>
          </p:nvSpPr>
          <p:spPr>
            <a:xfrm>
              <a:off x="845575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24"/>
          <p:cNvSpPr txBox="1"/>
          <p:nvPr/>
        </p:nvSpPr>
        <p:spPr>
          <a:xfrm>
            <a:off x="7435830" y="2535240"/>
            <a:ext cx="7458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TBD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7234525" y="1363875"/>
            <a:ext cx="1294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 working on v3.0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Product Shelving, Refilling</a:t>
            </a:r>
            <a:b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Physical Stock Counting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9" name="Google Shape;3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5701" y="2261873"/>
            <a:ext cx="124666" cy="16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/>
        </p:nvSpPr>
        <p:spPr>
          <a:xfrm>
            <a:off x="7834525" y="2848400"/>
            <a:ext cx="13713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 working on v4.0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Outlet Demand Forecasting with PO, STO Creation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Available Offers &amp; Information Showcase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2" name="Google Shape;402;p24"/>
          <p:cNvGrpSpPr/>
          <p:nvPr/>
        </p:nvGrpSpPr>
        <p:grpSpPr>
          <a:xfrm rot="10800000">
            <a:off x="8324634" y="2398203"/>
            <a:ext cx="92400" cy="411825"/>
            <a:chOff x="2070100" y="2563700"/>
            <a:chExt cx="92400" cy="411825"/>
          </a:xfrm>
        </p:grpSpPr>
        <p:cxnSp>
          <p:nvCxnSpPr>
            <p:cNvPr id="403" name="Google Shape;403;p24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4" name="Google Shape;404;p24"/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" name="Google Shape;405;p24"/>
          <p:cNvSpPr txBox="1"/>
          <p:nvPr/>
        </p:nvSpPr>
        <p:spPr>
          <a:xfrm>
            <a:off x="8029285" y="2028914"/>
            <a:ext cx="683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TBD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24">
            <a:hlinkClick r:id="rId5"/>
          </p:cNvPr>
          <p:cNvSpPr txBox="1"/>
          <p:nvPr/>
        </p:nvSpPr>
        <p:spPr>
          <a:xfrm>
            <a:off x="342025" y="4930475"/>
            <a:ext cx="4026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"/>
          <p:cNvSpPr txBox="1"/>
          <p:nvPr/>
        </p:nvSpPr>
        <p:spPr>
          <a:xfrm>
            <a:off x="385550" y="0"/>
            <a:ext cx="5704500" cy="40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Shwapno Survey Application</a:t>
            </a:r>
            <a:endParaRPr sz="3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D9EAD3"/>
                </a:highlight>
                <a:latin typeface="Poppins ExtraLight"/>
                <a:ea typeface="Poppins ExtraLight"/>
                <a:cs typeface="Poppins ExtraLight"/>
                <a:sym typeface="Poppins ExtraLight"/>
              </a:rPr>
              <a:t>MVP Launched</a:t>
            </a:r>
            <a:r>
              <a:rPr lang="en" sz="90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 ; </a:t>
            </a:r>
            <a:r>
              <a:rPr lang="en" sz="900">
                <a:solidFill>
                  <a:schemeClr val="dk1"/>
                </a:solidFill>
                <a:highlight>
                  <a:srgbClr val="FFF2CC"/>
                </a:highlight>
                <a:latin typeface="Poppins ExtraLight"/>
                <a:ea typeface="Poppins ExtraLight"/>
                <a:cs typeface="Poppins ExtraLight"/>
                <a:sym typeface="Poppins ExtraLight"/>
              </a:rPr>
              <a:t>v1.0 Development Ongoing</a:t>
            </a:r>
            <a:endParaRPr sz="900">
              <a:solidFill>
                <a:schemeClr val="dk1"/>
              </a:solidFill>
              <a:highlight>
                <a:srgbClr val="FFF2CC"/>
              </a:highlight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-29475" y="4300275"/>
            <a:ext cx="9183300" cy="2697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-29475" y="4030575"/>
            <a:ext cx="9183300" cy="26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5" title="Circle Logo 1024_101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9336" y="2017025"/>
            <a:ext cx="1821801" cy="18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/>
          <p:nvPr/>
        </p:nvSpPr>
        <p:spPr>
          <a:xfrm>
            <a:off x="2435725" y="660850"/>
            <a:ext cx="2431200" cy="4380000"/>
          </a:xfrm>
          <a:prstGeom prst="roundRect">
            <a:avLst>
              <a:gd name="adj" fmla="val 1983"/>
            </a:avLst>
          </a:prstGeom>
          <a:solidFill>
            <a:srgbClr val="F7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1177838" y="672076"/>
            <a:ext cx="1284900" cy="4380000"/>
          </a:xfrm>
          <a:prstGeom prst="roundRect">
            <a:avLst>
              <a:gd name="adj" fmla="val 1983"/>
            </a:avLst>
          </a:prstGeom>
          <a:solidFill>
            <a:srgbClr val="FF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6824612" y="651325"/>
            <a:ext cx="1396800" cy="4380000"/>
          </a:xfrm>
          <a:prstGeom prst="roundRect">
            <a:avLst>
              <a:gd name="adj" fmla="val 3363"/>
            </a:avLst>
          </a:prstGeom>
          <a:solidFill>
            <a:srgbClr val="F2F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4861150" y="651325"/>
            <a:ext cx="1973700" cy="4380000"/>
          </a:xfrm>
          <a:prstGeom prst="roundRect">
            <a:avLst>
              <a:gd name="adj" fmla="val 1983"/>
            </a:avLst>
          </a:prstGeom>
          <a:solidFill>
            <a:srgbClr val="FCF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5330229" y="711145"/>
            <a:ext cx="9618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DC</a:t>
            </a:r>
            <a:endParaRPr b="1" u="sng">
              <a:solidFill>
                <a:srgbClr val="990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28"/>
          <p:cNvSpPr txBox="1"/>
          <p:nvPr/>
        </p:nvSpPr>
        <p:spPr>
          <a:xfrm flipH="1">
            <a:off x="6708188" y="711137"/>
            <a:ext cx="1616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Outlet</a:t>
            </a:r>
            <a:endParaRPr b="1" u="sng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3166638" y="1004462"/>
            <a:ext cx="10047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Tentative Demand upload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1352150" y="1708052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Item Buy with Price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3" name="Google Shape;463;p28"/>
          <p:cNvCxnSpPr>
            <a:stCxn id="461" idx="1"/>
            <a:endCxn id="462" idx="0"/>
          </p:cNvCxnSpPr>
          <p:nvPr/>
        </p:nvCxnSpPr>
        <p:spPr>
          <a:xfrm flipH="1">
            <a:off x="1744038" y="1174412"/>
            <a:ext cx="1422600" cy="533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64" name="Google Shape;464;p28"/>
          <p:cNvCxnSpPr>
            <a:stCxn id="462" idx="2"/>
            <a:endCxn id="465" idx="0"/>
          </p:cNvCxnSpPr>
          <p:nvPr/>
        </p:nvCxnSpPr>
        <p:spPr>
          <a:xfrm rot="-5400000" flipH="1">
            <a:off x="1632350" y="2159702"/>
            <a:ext cx="2241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5" name="Google Shape;465;p28"/>
          <p:cNvSpPr/>
          <p:nvPr/>
        </p:nvSpPr>
        <p:spPr>
          <a:xfrm>
            <a:off x="1352150" y="2272050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Product Dispatch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2806333" y="1536402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Product Receives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2806333" y="2100596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Quality Check by QAA Team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3784046" y="1536411"/>
            <a:ext cx="906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Extra Item Receives with price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7124153" y="1270469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STO Create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70" name="Google Shape;470;p28"/>
          <p:cNvCxnSpPr>
            <a:stCxn id="465" idx="3"/>
            <a:endCxn id="466" idx="1"/>
          </p:cNvCxnSpPr>
          <p:nvPr/>
        </p:nvCxnSpPr>
        <p:spPr>
          <a:xfrm rot="10800000" flipH="1">
            <a:off x="2136050" y="1706400"/>
            <a:ext cx="670200" cy="735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71" name="Google Shape;471;p28"/>
          <p:cNvCxnSpPr>
            <a:stCxn id="466" idx="2"/>
            <a:endCxn id="467" idx="0"/>
          </p:cNvCxnSpPr>
          <p:nvPr/>
        </p:nvCxnSpPr>
        <p:spPr>
          <a:xfrm rot="-5400000" flipH="1">
            <a:off x="3086383" y="1988202"/>
            <a:ext cx="224400" cy="600"/>
          </a:xfrm>
          <a:prstGeom prst="bentConnector3">
            <a:avLst>
              <a:gd name="adj1" fmla="val 4997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72" name="Google Shape;472;p28"/>
          <p:cNvCxnSpPr>
            <a:stCxn id="466" idx="3"/>
            <a:endCxn id="468" idx="1"/>
          </p:cNvCxnSpPr>
          <p:nvPr/>
        </p:nvCxnSpPr>
        <p:spPr>
          <a:xfrm>
            <a:off x="3590233" y="1706352"/>
            <a:ext cx="1938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3" name="Google Shape;473;p28"/>
          <p:cNvSpPr/>
          <p:nvPr/>
        </p:nvSpPr>
        <p:spPr>
          <a:xfrm>
            <a:off x="5400125" y="1270473"/>
            <a:ext cx="975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Compiled Actual Demand List Upload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2806308" y="3697024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Remaining Item Buy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2710769" y="3127405"/>
            <a:ext cx="975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Item Received &amp; Handover to DC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76" name="Google Shape;476;p28"/>
          <p:cNvCxnSpPr>
            <a:stCxn id="469" idx="1"/>
            <a:endCxn id="473" idx="3"/>
          </p:cNvCxnSpPr>
          <p:nvPr/>
        </p:nvCxnSpPr>
        <p:spPr>
          <a:xfrm flipH="1">
            <a:off x="6375653" y="1440419"/>
            <a:ext cx="748500" cy="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77" name="Google Shape;477;p28"/>
          <p:cNvCxnSpPr>
            <a:stCxn id="473" idx="1"/>
            <a:endCxn id="474" idx="1"/>
          </p:cNvCxnSpPr>
          <p:nvPr/>
        </p:nvCxnSpPr>
        <p:spPr>
          <a:xfrm flipH="1">
            <a:off x="2806325" y="1440423"/>
            <a:ext cx="2593800" cy="2426700"/>
          </a:xfrm>
          <a:prstGeom prst="bentConnector3">
            <a:avLst>
              <a:gd name="adj1" fmla="val 10918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8" name="Google Shape;478;p28"/>
          <p:cNvSpPr/>
          <p:nvPr/>
        </p:nvSpPr>
        <p:spPr>
          <a:xfrm>
            <a:off x="7124453" y="3065234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TPN &amp; GRN Create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5400112" y="1707473"/>
            <a:ext cx="975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Item Received and Create GRN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0" name="Google Shape;480;p28"/>
          <p:cNvCxnSpPr>
            <a:stCxn id="475" idx="3"/>
            <a:endCxn id="479" idx="1"/>
          </p:cNvCxnSpPr>
          <p:nvPr/>
        </p:nvCxnSpPr>
        <p:spPr>
          <a:xfrm rot="10800000" flipH="1">
            <a:off x="3686369" y="1877455"/>
            <a:ext cx="1713600" cy="1419900"/>
          </a:xfrm>
          <a:prstGeom prst="bentConnector3">
            <a:avLst>
              <a:gd name="adj1" fmla="val 68946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81" name="Google Shape;481;p28"/>
          <p:cNvSpPr/>
          <p:nvPr/>
        </p:nvSpPr>
        <p:spPr>
          <a:xfrm>
            <a:off x="5400112" y="2186139"/>
            <a:ext cx="975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Product Picking (Outlet Wise) and Delivered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5400112" y="2635183"/>
            <a:ext cx="9756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Extra Product stored at DC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3" name="Google Shape;483;p28"/>
          <p:cNvCxnSpPr>
            <a:stCxn id="479" idx="2"/>
            <a:endCxn id="481" idx="0"/>
          </p:cNvCxnSpPr>
          <p:nvPr/>
        </p:nvCxnSpPr>
        <p:spPr>
          <a:xfrm rot="-5400000" flipH="1">
            <a:off x="5818762" y="2116523"/>
            <a:ext cx="138900" cy="600"/>
          </a:xfrm>
          <a:prstGeom prst="bentConnector3">
            <a:avLst>
              <a:gd name="adj1" fmla="val 4995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84" name="Google Shape;484;p28"/>
          <p:cNvCxnSpPr>
            <a:stCxn id="481" idx="2"/>
            <a:endCxn id="482" idx="0"/>
          </p:cNvCxnSpPr>
          <p:nvPr/>
        </p:nvCxnSpPr>
        <p:spPr>
          <a:xfrm rot="-5400000" flipH="1">
            <a:off x="5833612" y="2580339"/>
            <a:ext cx="109200" cy="600"/>
          </a:xfrm>
          <a:prstGeom prst="bentConnector3">
            <a:avLst>
              <a:gd name="adj1" fmla="val 4997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85" name="Google Shape;485;p28"/>
          <p:cNvSpPr txBox="1"/>
          <p:nvPr/>
        </p:nvSpPr>
        <p:spPr>
          <a:xfrm>
            <a:off x="3188089" y="711145"/>
            <a:ext cx="9618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Buying (KB)</a:t>
            </a:r>
            <a:endParaRPr b="1" u="sng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28"/>
          <p:cNvSpPr txBox="1"/>
          <p:nvPr/>
        </p:nvSpPr>
        <p:spPr>
          <a:xfrm>
            <a:off x="1263198" y="711145"/>
            <a:ext cx="9618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Source</a:t>
            </a:r>
            <a:endParaRPr b="1" u="sng">
              <a:solidFill>
                <a:srgbClr val="EC1B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2412166" y="953899"/>
            <a:ext cx="75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5 AM - 6 AM</a:t>
            </a:r>
            <a:endParaRPr sz="600" b="1">
              <a:solidFill>
                <a:srgbClr val="EC1B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4568563" y="1237788"/>
            <a:ext cx="79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3 AM - 3:30 AM</a:t>
            </a:r>
            <a:endParaRPr sz="600" b="1">
              <a:solidFill>
                <a:srgbClr val="EC1B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6408085" y="1237801"/>
            <a:ext cx="75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11 AM - 11 PM</a:t>
            </a:r>
            <a:endParaRPr sz="600" b="1">
              <a:solidFill>
                <a:srgbClr val="EC1B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7124450" y="2556238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Damage Entry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7124303" y="2047247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Received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2" name="Google Shape;492;p28"/>
          <p:cNvCxnSpPr>
            <a:stCxn id="469" idx="2"/>
            <a:endCxn id="491" idx="0"/>
          </p:cNvCxnSpPr>
          <p:nvPr/>
        </p:nvCxnSpPr>
        <p:spPr>
          <a:xfrm>
            <a:off x="7516103" y="1610369"/>
            <a:ext cx="300" cy="43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3" name="Google Shape;493;p28"/>
          <p:cNvSpPr/>
          <p:nvPr/>
        </p:nvSpPr>
        <p:spPr>
          <a:xfrm>
            <a:off x="4972575" y="3628188"/>
            <a:ext cx="748500" cy="26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Missing as wastage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5400125" y="3042675"/>
            <a:ext cx="975600" cy="316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GRN create from TPN</a:t>
            </a:r>
            <a:endParaRPr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5" name="Google Shape;495;p28"/>
          <p:cNvCxnSpPr>
            <a:stCxn id="490" idx="2"/>
            <a:endCxn id="478" idx="0"/>
          </p:cNvCxnSpPr>
          <p:nvPr/>
        </p:nvCxnSpPr>
        <p:spPr>
          <a:xfrm>
            <a:off x="7516400" y="2896138"/>
            <a:ext cx="0" cy="16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" name="Google Shape;496;p28"/>
          <p:cNvCxnSpPr>
            <a:stCxn id="491" idx="2"/>
            <a:endCxn id="490" idx="0"/>
          </p:cNvCxnSpPr>
          <p:nvPr/>
        </p:nvCxnSpPr>
        <p:spPr>
          <a:xfrm>
            <a:off x="7516253" y="2387147"/>
            <a:ext cx="0" cy="16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7" name="Google Shape;497;p28"/>
          <p:cNvSpPr/>
          <p:nvPr/>
        </p:nvSpPr>
        <p:spPr>
          <a:xfrm>
            <a:off x="2806633" y="2608684"/>
            <a:ext cx="783900" cy="33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PO Create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8" name="Google Shape;498;p28"/>
          <p:cNvCxnSpPr>
            <a:stCxn id="467" idx="2"/>
            <a:endCxn id="497" idx="0"/>
          </p:cNvCxnSpPr>
          <p:nvPr/>
        </p:nvCxnSpPr>
        <p:spPr>
          <a:xfrm>
            <a:off x="3198283" y="2440496"/>
            <a:ext cx="300" cy="16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9" name="Google Shape;499;p28"/>
          <p:cNvCxnSpPr>
            <a:stCxn id="497" idx="2"/>
            <a:endCxn id="475" idx="0"/>
          </p:cNvCxnSpPr>
          <p:nvPr/>
        </p:nvCxnSpPr>
        <p:spPr>
          <a:xfrm>
            <a:off x="3198583" y="2948584"/>
            <a:ext cx="0" cy="17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Google Shape;500;p28"/>
          <p:cNvCxnSpPr>
            <a:stCxn id="474" idx="3"/>
            <a:endCxn id="467" idx="3"/>
          </p:cNvCxnSpPr>
          <p:nvPr/>
        </p:nvCxnSpPr>
        <p:spPr>
          <a:xfrm rot="10800000" flipH="1">
            <a:off x="3590208" y="2270674"/>
            <a:ext cx="600" cy="1596300"/>
          </a:xfrm>
          <a:prstGeom prst="bentConnector3">
            <a:avLst>
              <a:gd name="adj1" fmla="val 39691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28"/>
          <p:cNvSpPr/>
          <p:nvPr/>
        </p:nvSpPr>
        <p:spPr>
          <a:xfrm>
            <a:off x="5933238" y="3634025"/>
            <a:ext cx="748500" cy="26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Rejected &amp; sell price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2" name="Google Shape;502;p28"/>
          <p:cNvCxnSpPr>
            <a:stCxn id="482" idx="1"/>
            <a:endCxn id="481" idx="1"/>
          </p:cNvCxnSpPr>
          <p:nvPr/>
        </p:nvCxnSpPr>
        <p:spPr>
          <a:xfrm rot="10800000" flipH="1">
            <a:off x="5400112" y="2356033"/>
            <a:ext cx="600" cy="4491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28"/>
          <p:cNvSpPr txBox="1"/>
          <p:nvPr/>
        </p:nvSpPr>
        <p:spPr>
          <a:xfrm rot="-5400000">
            <a:off x="4823125" y="2441975"/>
            <a:ext cx="546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Next day</a:t>
            </a:r>
            <a:endParaRPr sz="6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4" name="Google Shape;504;p28"/>
          <p:cNvCxnSpPr>
            <a:stCxn id="478" idx="1"/>
          </p:cNvCxnSpPr>
          <p:nvPr/>
        </p:nvCxnSpPr>
        <p:spPr>
          <a:xfrm flipH="1">
            <a:off x="6375653" y="3235184"/>
            <a:ext cx="7488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Google Shape;505;p28"/>
          <p:cNvCxnSpPr>
            <a:stCxn id="494" idx="2"/>
            <a:endCxn id="493" idx="0"/>
          </p:cNvCxnSpPr>
          <p:nvPr/>
        </p:nvCxnSpPr>
        <p:spPr>
          <a:xfrm rot="5400000">
            <a:off x="5482625" y="3222975"/>
            <a:ext cx="269400" cy="5412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Google Shape;506;p28"/>
          <p:cNvCxnSpPr>
            <a:stCxn id="494" idx="2"/>
            <a:endCxn id="501" idx="0"/>
          </p:cNvCxnSpPr>
          <p:nvPr/>
        </p:nvCxnSpPr>
        <p:spPr>
          <a:xfrm rot="-5400000" flipH="1">
            <a:off x="5960225" y="3286575"/>
            <a:ext cx="275100" cy="4197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28"/>
          <p:cNvSpPr/>
          <p:nvPr/>
        </p:nvSpPr>
        <p:spPr>
          <a:xfrm>
            <a:off x="4983063" y="4075300"/>
            <a:ext cx="727500" cy="276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DC Verification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8" name="Google Shape;508;p28"/>
          <p:cNvSpPr txBox="1"/>
          <p:nvPr/>
        </p:nvSpPr>
        <p:spPr>
          <a:xfrm>
            <a:off x="5627113" y="3312047"/>
            <a:ext cx="873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 Platform</a:t>
            </a:r>
            <a:endParaRPr sz="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28"/>
          <p:cNvSpPr txBox="1"/>
          <p:nvPr/>
        </p:nvSpPr>
        <p:spPr>
          <a:xfrm>
            <a:off x="5406988" y="3203400"/>
            <a:ext cx="961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stock in SAP</a:t>
            </a:r>
            <a:endParaRPr sz="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4983063" y="4559313"/>
            <a:ext cx="727500" cy="276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Stock Revaluation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1" name="Google Shape;511;p28"/>
          <p:cNvCxnSpPr>
            <a:stCxn id="507" idx="2"/>
            <a:endCxn id="510" idx="0"/>
          </p:cNvCxnSpPr>
          <p:nvPr/>
        </p:nvCxnSpPr>
        <p:spPr>
          <a:xfrm>
            <a:off x="5346813" y="4352200"/>
            <a:ext cx="0" cy="207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" name="Google Shape;512;p28"/>
          <p:cNvCxnSpPr>
            <a:stCxn id="493" idx="2"/>
            <a:endCxn id="507" idx="0"/>
          </p:cNvCxnSpPr>
          <p:nvPr/>
        </p:nvCxnSpPr>
        <p:spPr>
          <a:xfrm>
            <a:off x="5346825" y="3893388"/>
            <a:ext cx="0" cy="18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28"/>
          <p:cNvSpPr/>
          <p:nvPr/>
        </p:nvSpPr>
        <p:spPr>
          <a:xfrm>
            <a:off x="5943750" y="4098850"/>
            <a:ext cx="727500" cy="276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oppins"/>
                <a:ea typeface="Poppins"/>
                <a:cs typeface="Poppins"/>
                <a:sym typeface="Poppins"/>
              </a:rPr>
              <a:t>Manually Input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5938488" y="4575597"/>
            <a:ext cx="727500" cy="276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48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Wastage off set</a:t>
            </a:r>
            <a:endParaRPr sz="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5" name="Google Shape;515;p28"/>
          <p:cNvCxnSpPr>
            <a:stCxn id="513" idx="2"/>
            <a:endCxn id="514" idx="0"/>
          </p:cNvCxnSpPr>
          <p:nvPr/>
        </p:nvCxnSpPr>
        <p:spPr>
          <a:xfrm flipH="1">
            <a:off x="6302100" y="4375750"/>
            <a:ext cx="5400" cy="19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28"/>
          <p:cNvCxnSpPr>
            <a:stCxn id="501" idx="2"/>
            <a:endCxn id="513" idx="0"/>
          </p:cNvCxnSpPr>
          <p:nvPr/>
        </p:nvCxnSpPr>
        <p:spPr>
          <a:xfrm>
            <a:off x="6307488" y="3899225"/>
            <a:ext cx="0" cy="19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28"/>
          <p:cNvSpPr txBox="1"/>
          <p:nvPr/>
        </p:nvSpPr>
        <p:spPr>
          <a:xfrm>
            <a:off x="5060453" y="4330625"/>
            <a:ext cx="858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SAP</a:t>
            </a:r>
            <a:endParaRPr sz="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28"/>
          <p:cNvSpPr txBox="1"/>
          <p:nvPr/>
        </p:nvSpPr>
        <p:spPr>
          <a:xfrm>
            <a:off x="6004100" y="3889950"/>
            <a:ext cx="864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DSD</a:t>
            </a:r>
            <a:endParaRPr sz="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9" name="Google Shape;519;p28"/>
          <p:cNvCxnSpPr>
            <a:stCxn id="501" idx="1"/>
            <a:endCxn id="507" idx="3"/>
          </p:cNvCxnSpPr>
          <p:nvPr/>
        </p:nvCxnSpPr>
        <p:spPr>
          <a:xfrm flipH="1">
            <a:off x="5710638" y="3766625"/>
            <a:ext cx="222600" cy="447000"/>
          </a:xfrm>
          <a:prstGeom prst="bentConnector3">
            <a:avLst>
              <a:gd name="adj1" fmla="val 5001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" name="Google Shape;520;p28"/>
          <p:cNvSpPr txBox="1"/>
          <p:nvPr/>
        </p:nvSpPr>
        <p:spPr>
          <a:xfrm>
            <a:off x="6131700" y="4352500"/>
            <a:ext cx="84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Finance team</a:t>
            </a:r>
            <a:endParaRPr sz="4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28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 b="1">
                <a:latin typeface="Poppins"/>
                <a:ea typeface="Poppins"/>
                <a:cs typeface="Poppins"/>
                <a:sym typeface="Poppins"/>
              </a:rPr>
              <a:t>Fresh Buying v2.0</a:t>
            </a:r>
            <a:r>
              <a:rPr lang="en" b="1">
                <a:latin typeface="Poppins"/>
                <a:ea typeface="Poppins"/>
                <a:cs typeface="Poppins"/>
                <a:sym typeface="Poppins"/>
              </a:rPr>
              <a:t> - Flowchart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22" name="Google Shape;522;p28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3" name="Google Shape;5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/>
          <p:nvPr/>
        </p:nvSpPr>
        <p:spPr>
          <a:xfrm>
            <a:off x="4572150" y="5004475"/>
            <a:ext cx="4591500" cy="1389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-19650" y="5004475"/>
            <a:ext cx="4591500" cy="13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 b="1">
                <a:latin typeface="Poppins"/>
                <a:ea typeface="Poppins"/>
                <a:cs typeface="Poppins"/>
                <a:sym typeface="Poppins"/>
              </a:rPr>
              <a:t>Shwapno Hub</a:t>
            </a:r>
            <a:endParaRPr sz="3300"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15" name="Google Shape;615;p32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2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2"/>
          <p:cNvSpPr txBox="1"/>
          <p:nvPr/>
        </p:nvSpPr>
        <p:spPr>
          <a:xfrm>
            <a:off x="342050" y="4901725"/>
            <a:ext cx="4132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Product: Aquib  |  Engineer: Sadman, Upol, Sayed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32"/>
          <p:cNvSpPr txBox="1">
            <a:spLocks noGrp="1"/>
          </p:cNvSpPr>
          <p:nvPr>
            <p:ph type="body" idx="1"/>
          </p:nvPr>
        </p:nvSpPr>
        <p:spPr>
          <a:xfrm>
            <a:off x="273025" y="695750"/>
            <a:ext cx="8520600" cy="1475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lnSpcReduction="10000"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Centralized Authentication System; to Control User Access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 Backend System Architecture; for Structured Application Management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Single Database; to Improve Efficiency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Reusable Frontend Component Set; to Reduce Development Time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 Framework for Third Party Integration; to Reduce Different Integration Process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Inventory Management System with State Machine; for Better Stock Tracking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32">
            <a:hlinkClick r:id="rId4"/>
          </p:cNvPr>
          <p:cNvSpPr txBox="1"/>
          <p:nvPr/>
        </p:nvSpPr>
        <p:spPr>
          <a:xfrm flipH="1">
            <a:off x="4571750" y="4930475"/>
            <a:ext cx="42882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 u="sng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623" name="Google Shape;623;p32"/>
          <p:cNvGrpSpPr/>
          <p:nvPr/>
        </p:nvGrpSpPr>
        <p:grpSpPr>
          <a:xfrm>
            <a:off x="4061325" y="2162550"/>
            <a:ext cx="4930553" cy="2578749"/>
            <a:chOff x="4061325" y="2162550"/>
            <a:chExt cx="4930553" cy="2578749"/>
          </a:xfrm>
        </p:grpSpPr>
        <p:pic>
          <p:nvPicPr>
            <p:cNvPr id="624" name="Google Shape;624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61325" y="2162550"/>
              <a:ext cx="4930553" cy="2578749"/>
            </a:xfrm>
            <a:prstGeom prst="rect">
              <a:avLst/>
            </a:prstGeom>
            <a:noFill/>
            <a:ln w="9525" cap="flat" cmpd="sng">
              <a:solidFill>
                <a:srgbClr val="92929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625" name="Google Shape;625;p32"/>
            <p:cNvSpPr/>
            <p:nvPr/>
          </p:nvSpPr>
          <p:spPr>
            <a:xfrm>
              <a:off x="4105475" y="2195325"/>
              <a:ext cx="114300" cy="107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26" name="Google Shape;626;p32" title="Logo 1200x1200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108375" y="2193175"/>
              <a:ext cx="107049" cy="107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7" name="Google Shape;627;p32"/>
          <p:cNvGrpSpPr/>
          <p:nvPr/>
        </p:nvGrpSpPr>
        <p:grpSpPr>
          <a:xfrm>
            <a:off x="195200" y="2162550"/>
            <a:ext cx="3758611" cy="2578762"/>
            <a:chOff x="195200" y="2162550"/>
            <a:chExt cx="3758611" cy="2578762"/>
          </a:xfrm>
        </p:grpSpPr>
        <p:pic>
          <p:nvPicPr>
            <p:cNvPr id="628" name="Google Shape;628;p3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95200" y="2162550"/>
              <a:ext cx="3758611" cy="2578762"/>
            </a:xfrm>
            <a:prstGeom prst="rect">
              <a:avLst/>
            </a:prstGeom>
            <a:noFill/>
            <a:ln w="9525" cap="flat" cmpd="sng">
              <a:solidFill>
                <a:srgbClr val="92929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629" name="Google Shape;629;p32"/>
            <p:cNvSpPr/>
            <p:nvPr/>
          </p:nvSpPr>
          <p:spPr>
            <a:xfrm>
              <a:off x="1756450" y="2789200"/>
              <a:ext cx="114300" cy="107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30" name="Google Shape;630;p32" title="Logo 1200x1200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760075" y="2794575"/>
              <a:ext cx="107049" cy="1070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5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Retail Store User Flow Diagram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73" name="Google Shape;673;p35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5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5" name="Google Shape;6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625" y="1289425"/>
            <a:ext cx="390497" cy="4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5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438269" y="2063407"/>
            <a:ext cx="10653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Poppins"/>
                <a:ea typeface="Poppins"/>
                <a:cs typeface="Poppins"/>
                <a:sym typeface="Poppins"/>
              </a:rPr>
              <a:t>Notifications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5593732" y="2063707"/>
            <a:ext cx="125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Retail  Digital Offer </a:t>
            </a: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2097640" y="2063407"/>
            <a:ext cx="119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Switch to Store Mode</a:t>
            </a: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80" name="Google Shape;680;p35"/>
          <p:cNvCxnSpPr>
            <a:stCxn id="677" idx="3"/>
            <a:endCxn id="679" idx="1"/>
          </p:cNvCxnSpPr>
          <p:nvPr/>
        </p:nvCxnSpPr>
        <p:spPr>
          <a:xfrm>
            <a:off x="1503569" y="2276257"/>
            <a:ext cx="5940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81" name="Google Shape;681;p35"/>
          <p:cNvSpPr/>
          <p:nvPr/>
        </p:nvSpPr>
        <p:spPr>
          <a:xfrm>
            <a:off x="3912139" y="2063407"/>
            <a:ext cx="10950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7360687" y="2063407"/>
            <a:ext cx="125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Poppins"/>
                <a:ea typeface="Poppins"/>
                <a:cs typeface="Poppins"/>
                <a:sym typeface="Poppins"/>
              </a:rPr>
              <a:t>Search product Location 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7360690" y="3523770"/>
            <a:ext cx="125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Locate Product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5567050" y="3524075"/>
            <a:ext cx="119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Scan Product</a:t>
            </a: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3832011" y="3523770"/>
            <a:ext cx="125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Auto Added to Cart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2227875" y="3523775"/>
            <a:ext cx="10137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Payment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423525" y="3523770"/>
            <a:ext cx="10950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Digital Invoice</a:t>
            </a:r>
            <a:endParaRPr sz="700"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88" name="Google Shape;688;p35"/>
          <p:cNvCxnSpPr>
            <a:stCxn id="679" idx="3"/>
            <a:endCxn id="681" idx="1"/>
          </p:cNvCxnSpPr>
          <p:nvPr/>
        </p:nvCxnSpPr>
        <p:spPr>
          <a:xfrm>
            <a:off x="3292840" y="2276257"/>
            <a:ext cx="6192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89" name="Google Shape;689;p35"/>
          <p:cNvCxnSpPr>
            <a:stCxn id="681" idx="3"/>
            <a:endCxn id="678" idx="1"/>
          </p:cNvCxnSpPr>
          <p:nvPr/>
        </p:nvCxnSpPr>
        <p:spPr>
          <a:xfrm>
            <a:off x="5007139" y="2276257"/>
            <a:ext cx="586500" cy="6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0" name="Google Shape;690;p35"/>
          <p:cNvCxnSpPr>
            <a:stCxn id="678" idx="3"/>
            <a:endCxn id="682" idx="1"/>
          </p:cNvCxnSpPr>
          <p:nvPr/>
        </p:nvCxnSpPr>
        <p:spPr>
          <a:xfrm>
            <a:off x="6848932" y="2276557"/>
            <a:ext cx="511800" cy="6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1" name="Google Shape;691;p35"/>
          <p:cNvCxnSpPr>
            <a:stCxn id="682" idx="3"/>
            <a:endCxn id="683" idx="3"/>
          </p:cNvCxnSpPr>
          <p:nvPr/>
        </p:nvCxnSpPr>
        <p:spPr>
          <a:xfrm>
            <a:off x="8615887" y="2276257"/>
            <a:ext cx="600" cy="1460400"/>
          </a:xfrm>
          <a:prstGeom prst="bentConnector3">
            <a:avLst>
              <a:gd name="adj1" fmla="val 39687979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2" name="Google Shape;692;p35"/>
          <p:cNvCxnSpPr>
            <a:stCxn id="683" idx="1"/>
            <a:endCxn id="684" idx="3"/>
          </p:cNvCxnSpPr>
          <p:nvPr/>
        </p:nvCxnSpPr>
        <p:spPr>
          <a:xfrm flipH="1">
            <a:off x="6762190" y="3736620"/>
            <a:ext cx="598500" cy="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3" name="Google Shape;693;p35"/>
          <p:cNvCxnSpPr>
            <a:stCxn id="684" idx="1"/>
            <a:endCxn id="685" idx="3"/>
          </p:cNvCxnSpPr>
          <p:nvPr/>
        </p:nvCxnSpPr>
        <p:spPr>
          <a:xfrm flipH="1">
            <a:off x="5087350" y="3736925"/>
            <a:ext cx="479700" cy="600"/>
          </a:xfrm>
          <a:prstGeom prst="bentConnector3">
            <a:avLst>
              <a:gd name="adj1" fmla="val 5001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4" name="Google Shape;694;p35"/>
          <p:cNvCxnSpPr>
            <a:stCxn id="685" idx="1"/>
            <a:endCxn id="686" idx="3"/>
          </p:cNvCxnSpPr>
          <p:nvPr/>
        </p:nvCxnSpPr>
        <p:spPr>
          <a:xfrm flipH="1">
            <a:off x="3241611" y="3736620"/>
            <a:ext cx="5904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95" name="Google Shape;695;p35"/>
          <p:cNvCxnSpPr>
            <a:stCxn id="686" idx="1"/>
            <a:endCxn id="687" idx="3"/>
          </p:cNvCxnSpPr>
          <p:nvPr/>
        </p:nvCxnSpPr>
        <p:spPr>
          <a:xfrm flipH="1">
            <a:off x="1518675" y="3736625"/>
            <a:ext cx="7092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696" name="Google Shape;69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5"/>
          <p:cNvSpPr/>
          <p:nvPr/>
        </p:nvSpPr>
        <p:spPr>
          <a:xfrm>
            <a:off x="3886799" y="2063582"/>
            <a:ext cx="1195200" cy="42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Check In</a:t>
            </a: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9624" y="2860824"/>
            <a:ext cx="619250" cy="67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9929" y="2965010"/>
            <a:ext cx="509297" cy="55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2501" y="2882351"/>
            <a:ext cx="593911" cy="64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1425" y="1549850"/>
            <a:ext cx="549000" cy="5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18625" y="1361550"/>
            <a:ext cx="426650" cy="4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82899" y="3070380"/>
            <a:ext cx="549000" cy="54902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35"/>
          <p:cNvSpPr/>
          <p:nvPr/>
        </p:nvSpPr>
        <p:spPr>
          <a:xfrm>
            <a:off x="3669338" y="2828575"/>
            <a:ext cx="368400" cy="320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5" name="Google Shape;705;p35"/>
          <p:cNvCxnSpPr>
            <a:stCxn id="697" idx="2"/>
            <a:endCxn id="699" idx="0"/>
          </p:cNvCxnSpPr>
          <p:nvPr/>
        </p:nvCxnSpPr>
        <p:spPr>
          <a:xfrm rot="-5400000" flipH="1">
            <a:off x="5101649" y="1872032"/>
            <a:ext cx="475800" cy="17103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06" name="Google Shape;706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32875" y="1360700"/>
            <a:ext cx="910800" cy="9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8248" y="1495310"/>
            <a:ext cx="619250" cy="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3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223850" y="1514224"/>
            <a:ext cx="549000" cy="5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3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97813" y="1495330"/>
            <a:ext cx="619250" cy="619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3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84877" y="1395189"/>
            <a:ext cx="350100" cy="359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13350" y="1261550"/>
            <a:ext cx="442925" cy="4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3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401700" y="2919275"/>
            <a:ext cx="648952" cy="6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3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 flipH="1">
            <a:off x="2792274" y="3294300"/>
            <a:ext cx="350100" cy="3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35"/>
          <p:cNvSpPr txBox="1"/>
          <p:nvPr/>
        </p:nvSpPr>
        <p:spPr>
          <a:xfrm>
            <a:off x="342050" y="4901725"/>
            <a:ext cx="2554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Product: Rafa, Sadia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8"/>
          <p:cNvSpPr txBox="1">
            <a:spLocks noGrp="1"/>
          </p:cNvSpPr>
          <p:nvPr>
            <p:ph type="title"/>
          </p:nvPr>
        </p:nvSpPr>
        <p:spPr>
          <a:xfrm>
            <a:off x="311709" y="106485"/>
            <a:ext cx="77811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Concept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4" name="Google Shape;754;p38"/>
          <p:cNvSpPr txBox="1">
            <a:spLocks noGrp="1"/>
          </p:cNvSpPr>
          <p:nvPr>
            <p:ph type="title"/>
          </p:nvPr>
        </p:nvSpPr>
        <p:spPr>
          <a:xfrm>
            <a:off x="342050" y="745450"/>
            <a:ext cx="8517900" cy="6735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A comprehensive software </a:t>
            </a:r>
            <a:r>
              <a:rPr lang="en" sz="1700" b="1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designed to </a:t>
            </a:r>
            <a:r>
              <a:rPr lang="en" sz="1700" b="1">
                <a:solidFill>
                  <a:srgbClr val="EC1B21"/>
                </a:solidFill>
                <a:latin typeface="Poppins"/>
                <a:ea typeface="Poppins"/>
                <a:cs typeface="Poppins"/>
                <a:sym typeface="Poppins"/>
              </a:rPr>
              <a:t>streamline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 small retail store operations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55" name="Google Shape;755;p38"/>
          <p:cNvCxnSpPr/>
          <p:nvPr/>
        </p:nvCxnSpPr>
        <p:spPr>
          <a:xfrm>
            <a:off x="342050" y="5751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6" name="Google Shape;756;p38"/>
          <p:cNvSpPr/>
          <p:nvPr/>
        </p:nvSpPr>
        <p:spPr>
          <a:xfrm>
            <a:off x="4572150" y="4982375"/>
            <a:ext cx="4591500" cy="160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79000" tIns="79000" rIns="79000" bIns="79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8"/>
          <p:cNvSpPr/>
          <p:nvPr/>
        </p:nvSpPr>
        <p:spPr>
          <a:xfrm>
            <a:off x="-19650" y="4982375"/>
            <a:ext cx="4591500" cy="16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79000" tIns="79000" rIns="79000" bIns="79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298575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38"/>
          <p:cNvSpPr txBox="1">
            <a:spLocks noGrp="1"/>
          </p:cNvSpPr>
          <p:nvPr>
            <p:ph type="title"/>
          </p:nvPr>
        </p:nvSpPr>
        <p:spPr>
          <a:xfrm>
            <a:off x="342050" y="2282525"/>
            <a:ext cx="4175700" cy="6735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latin typeface="Poppins"/>
                <a:ea typeface="Poppins"/>
                <a:cs typeface="Poppins"/>
                <a:sym typeface="Poppins"/>
              </a:rPr>
              <a:t>Improved Efficiency &amp; Decision-Making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Streamline manual tasks from generated insights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0" name="Google Shape;760;p38"/>
          <p:cNvSpPr txBox="1">
            <a:spLocks noGrp="1"/>
          </p:cNvSpPr>
          <p:nvPr>
            <p:ph type="title"/>
          </p:nvPr>
        </p:nvSpPr>
        <p:spPr>
          <a:xfrm>
            <a:off x="4627575" y="2282538"/>
            <a:ext cx="4175700" cy="6735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oppins"/>
                <a:ea typeface="Poppins"/>
                <a:cs typeface="Poppins"/>
                <a:sym typeface="Poppins"/>
              </a:rPr>
              <a:t>Simplified Procurement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Product sourcing from multiple suppliers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38"/>
          <p:cNvSpPr txBox="1">
            <a:spLocks noGrp="1"/>
          </p:cNvSpPr>
          <p:nvPr>
            <p:ph type="title"/>
          </p:nvPr>
        </p:nvSpPr>
        <p:spPr>
          <a:xfrm>
            <a:off x="342050" y="4066150"/>
            <a:ext cx="4175700" cy="6735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oppins"/>
                <a:ea typeface="Poppins"/>
                <a:cs typeface="Poppins"/>
                <a:sym typeface="Poppins"/>
              </a:rPr>
              <a:t>Enhanced Customer Experience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Customer wise automated reminders &amp; offer create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2" name="Google Shape;762;p38"/>
          <p:cNvSpPr txBox="1">
            <a:spLocks noGrp="1"/>
          </p:cNvSpPr>
          <p:nvPr>
            <p:ph type="title"/>
          </p:nvPr>
        </p:nvSpPr>
        <p:spPr>
          <a:xfrm>
            <a:off x="4627575" y="4066150"/>
            <a:ext cx="4175700" cy="6735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Poppins"/>
                <a:ea typeface="Poppins"/>
                <a:cs typeface="Poppins"/>
                <a:sym typeface="Poppins"/>
              </a:rPr>
              <a:t>Access to Funding</a:t>
            </a:r>
            <a:endParaRPr sz="11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Leverage crowdfunding to secure capital for growth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3" name="Google Shape;7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150" y="1609046"/>
            <a:ext cx="673500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8675" y="1609046"/>
            <a:ext cx="673500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8675" y="3392650"/>
            <a:ext cx="673500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2093150" y="3392650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8">
            <a:hlinkClick r:id="rId8"/>
          </p:cNvPr>
          <p:cNvSpPr txBox="1"/>
          <p:nvPr/>
        </p:nvSpPr>
        <p:spPr>
          <a:xfrm flipH="1">
            <a:off x="4368350" y="4930475"/>
            <a:ext cx="44916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8" name="Google Shape;768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9"/>
          <p:cNvSpPr txBox="1">
            <a:spLocks noGrp="1"/>
          </p:cNvSpPr>
          <p:nvPr>
            <p:ph type="title"/>
          </p:nvPr>
        </p:nvSpPr>
        <p:spPr>
          <a:xfrm>
            <a:off x="311709" y="106485"/>
            <a:ext cx="77811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Competitor Services Category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4" name="Google Shape;774;p39"/>
          <p:cNvSpPr/>
          <p:nvPr/>
        </p:nvSpPr>
        <p:spPr>
          <a:xfrm>
            <a:off x="3234950" y="582800"/>
            <a:ext cx="1875000" cy="45606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9"/>
          <p:cNvSpPr/>
          <p:nvPr/>
        </p:nvSpPr>
        <p:spPr>
          <a:xfrm>
            <a:off x="5109950" y="582800"/>
            <a:ext cx="1875000" cy="4560600"/>
          </a:xfrm>
          <a:prstGeom prst="rect">
            <a:avLst/>
          </a:prstGeom>
          <a:solidFill>
            <a:srgbClr val="EDF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9"/>
          <p:cNvSpPr/>
          <p:nvPr/>
        </p:nvSpPr>
        <p:spPr>
          <a:xfrm>
            <a:off x="6984950" y="582800"/>
            <a:ext cx="1875000" cy="4560600"/>
          </a:xfrm>
          <a:prstGeom prst="rect">
            <a:avLst/>
          </a:prstGeom>
          <a:solidFill>
            <a:srgbClr val="FFFE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9"/>
          <p:cNvSpPr txBox="1">
            <a:spLocks noGrp="1"/>
          </p:cNvSpPr>
          <p:nvPr>
            <p:ph type="title"/>
          </p:nvPr>
        </p:nvSpPr>
        <p:spPr>
          <a:xfrm>
            <a:off x="342050" y="1100700"/>
            <a:ext cx="2892900" cy="40425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Sales Entry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Expense Entry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Due Calculation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Top Up (MFS/Mobile)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Online Payment Collection (QR)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Stock Management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Customer/Supplier Details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EMI Collection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Reminder SMS (Marketing, Due)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E-Commerce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POS Printer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300">
                <a:latin typeface="Poppins"/>
                <a:ea typeface="Poppins"/>
                <a:cs typeface="Poppins"/>
                <a:sym typeface="Poppins"/>
              </a:rPr>
              <a:t>Loan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78" name="Google Shape;778;p39"/>
          <p:cNvCxnSpPr/>
          <p:nvPr/>
        </p:nvCxnSpPr>
        <p:spPr>
          <a:xfrm>
            <a:off x="342050" y="5751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9" name="Google Shape;779;p39"/>
          <p:cNvSpPr txBox="1">
            <a:spLocks noGrp="1"/>
          </p:cNvSpPr>
          <p:nvPr>
            <p:ph type="title"/>
          </p:nvPr>
        </p:nvSpPr>
        <p:spPr>
          <a:xfrm>
            <a:off x="3322350" y="715350"/>
            <a:ext cx="1796100" cy="4929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 b="1" u="sng">
                <a:latin typeface="Poppins"/>
                <a:ea typeface="Poppins"/>
                <a:cs typeface="Poppins"/>
                <a:sym typeface="Poppins"/>
              </a:rPr>
              <a:t>TallyKhata</a:t>
            </a:r>
            <a:endParaRPr sz="1500" b="1" u="sng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39"/>
          <p:cNvSpPr txBox="1">
            <a:spLocks noGrp="1"/>
          </p:cNvSpPr>
          <p:nvPr>
            <p:ph type="title"/>
          </p:nvPr>
        </p:nvSpPr>
        <p:spPr>
          <a:xfrm>
            <a:off x="5175500" y="715350"/>
            <a:ext cx="1796100" cy="4929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 b="1" u="sng">
                <a:latin typeface="Poppins"/>
                <a:ea typeface="Poppins"/>
                <a:cs typeface="Poppins"/>
                <a:sym typeface="Poppins"/>
              </a:rPr>
              <a:t>sManager</a:t>
            </a:r>
            <a:endParaRPr sz="1500" b="1" u="sng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1" name="Google Shape;781;p39"/>
          <p:cNvSpPr txBox="1">
            <a:spLocks noGrp="1"/>
          </p:cNvSpPr>
          <p:nvPr>
            <p:ph type="title"/>
          </p:nvPr>
        </p:nvSpPr>
        <p:spPr>
          <a:xfrm>
            <a:off x="7063850" y="715350"/>
            <a:ext cx="1796100" cy="4929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 b="1" u="sng">
                <a:latin typeface="Poppins"/>
                <a:ea typeface="Poppins"/>
                <a:cs typeface="Poppins"/>
                <a:sym typeface="Poppins"/>
              </a:rPr>
              <a:t>Hishabee</a:t>
            </a:r>
            <a:endParaRPr sz="1500" b="1" u="sng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2" name="Google Shape;78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1172475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1502378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1832281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2162184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249208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2821990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3151893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4141603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348179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500" y="715350"/>
            <a:ext cx="361550" cy="3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39"/>
          <p:cNvPicPr preferRelativeResize="0"/>
          <p:nvPr/>
        </p:nvPicPr>
        <p:blipFill rotWithShape="1">
          <a:blip r:embed="rId5">
            <a:alphaModFix/>
          </a:blip>
          <a:srcRect l="53130" t="14275" r="4713" b="8814"/>
          <a:stretch/>
        </p:blipFill>
        <p:spPr>
          <a:xfrm>
            <a:off x="6578925" y="715350"/>
            <a:ext cx="327700" cy="3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3811700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50" y="4471506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117248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1502391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1832294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216219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2492100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2822003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3151906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4141615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3481809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413" y="3811712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63" y="117248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63" y="1502391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63" y="1832294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63" y="2162197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63" y="2492100"/>
            <a:ext cx="216575" cy="21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17018" y="298575"/>
            <a:ext cx="442934" cy="24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1" name="Google Shape;811;p39"/>
          <p:cNvGrpSpPr/>
          <p:nvPr/>
        </p:nvGrpSpPr>
        <p:grpSpPr>
          <a:xfrm>
            <a:off x="8472284" y="746411"/>
            <a:ext cx="299428" cy="299428"/>
            <a:chOff x="934475" y="1794650"/>
            <a:chExt cx="259200" cy="259200"/>
          </a:xfrm>
        </p:grpSpPr>
        <p:sp>
          <p:nvSpPr>
            <p:cNvPr id="812" name="Google Shape;812;p39"/>
            <p:cNvSpPr/>
            <p:nvPr/>
          </p:nvSpPr>
          <p:spPr>
            <a:xfrm>
              <a:off x="934475" y="1794650"/>
              <a:ext cx="259200" cy="259200"/>
            </a:xfrm>
            <a:prstGeom prst="roundRect">
              <a:avLst>
                <a:gd name="adj" fmla="val 13915"/>
              </a:avLst>
            </a:prstGeom>
            <a:solidFill>
              <a:srgbClr val="FFC81D"/>
            </a:solidFill>
            <a:ln>
              <a:noFill/>
            </a:ln>
            <a:effectLst>
              <a:outerShdw blurRad="14288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13" name="Google Shape;813;p39"/>
            <p:cNvPicPr preferRelativeResize="0"/>
            <p:nvPr/>
          </p:nvPicPr>
          <p:blipFill rotWithShape="1">
            <a:blip r:embed="rId7">
              <a:alphaModFix/>
            </a:blip>
            <a:srcRect l="30832" t="26373" r="35658" b="44038"/>
            <a:stretch/>
          </p:blipFill>
          <p:spPr>
            <a:xfrm>
              <a:off x="954777" y="1822863"/>
              <a:ext cx="217473" cy="2029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024400" y="4726875"/>
            <a:ext cx="1796100" cy="2754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Autofit/>
          </a:bodyPr>
          <a:lstStyle/>
          <a:p>
            <a:pPr marL="0" lvl="0" indent="0" algn="ctr" rtl="0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 b="1">
                <a:latin typeface="Poppins"/>
                <a:ea typeface="Poppins"/>
                <a:cs typeface="Poppins"/>
                <a:sym typeface="Poppins"/>
              </a:rPr>
              <a:t>Stock</a:t>
            </a:r>
            <a:endParaRPr sz="1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Our Services/Features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1" name="Google Shape;821;p40"/>
          <p:cNvCxnSpPr/>
          <p:nvPr/>
        </p:nvCxnSpPr>
        <p:spPr>
          <a:xfrm>
            <a:off x="342050" y="6513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2" name="Google Shape;822;p40"/>
          <p:cNvSpPr/>
          <p:nvPr/>
        </p:nvSpPr>
        <p:spPr>
          <a:xfrm>
            <a:off x="4572150" y="4901575"/>
            <a:ext cx="4591500" cy="241800"/>
          </a:xfrm>
          <a:prstGeom prst="rect">
            <a:avLst/>
          </a:prstGeom>
          <a:solidFill>
            <a:srgbClr val="EC1B21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0"/>
          <p:cNvSpPr/>
          <p:nvPr/>
        </p:nvSpPr>
        <p:spPr>
          <a:xfrm>
            <a:off x="-19650" y="4901575"/>
            <a:ext cx="4591500" cy="24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0"/>
          <p:cNvSpPr/>
          <p:nvPr/>
        </p:nvSpPr>
        <p:spPr>
          <a:xfrm>
            <a:off x="729529" y="15876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Sales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Entry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7186546" y="15876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Inventory Management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40"/>
          <p:cNvSpPr/>
          <p:nvPr/>
        </p:nvSpPr>
        <p:spPr>
          <a:xfrm>
            <a:off x="2881856" y="15876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Expense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Entry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40"/>
          <p:cNvSpPr/>
          <p:nvPr/>
        </p:nvSpPr>
        <p:spPr>
          <a:xfrm>
            <a:off x="5034206" y="15876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Due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Calculation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729529" y="2897481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Customer/Supplier Details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40"/>
          <p:cNvSpPr/>
          <p:nvPr/>
        </p:nvSpPr>
        <p:spPr>
          <a:xfrm>
            <a:off x="729529" y="41556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Shwapno Product Sale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40"/>
          <p:cNvSpPr/>
          <p:nvPr/>
        </p:nvSpPr>
        <p:spPr>
          <a:xfrm>
            <a:off x="7186546" y="2897481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Removal Suggestion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1" name="Google Shape;831;p40"/>
          <p:cNvSpPr/>
          <p:nvPr/>
        </p:nvSpPr>
        <p:spPr>
          <a:xfrm>
            <a:off x="5034207" y="4149850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Online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Poppins"/>
                <a:ea typeface="Poppins"/>
                <a:cs typeface="Poppins"/>
                <a:sym typeface="Poppins"/>
              </a:rPr>
              <a:t>Payment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2" name="Google Shape;832;p40"/>
          <p:cNvSpPr/>
          <p:nvPr/>
        </p:nvSpPr>
        <p:spPr>
          <a:xfrm>
            <a:off x="5034200" y="2897475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Ordering Management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3" name="Google Shape;833;p40"/>
          <p:cNvSpPr/>
          <p:nvPr/>
        </p:nvSpPr>
        <p:spPr>
          <a:xfrm>
            <a:off x="2881868" y="4149838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Mobile/Bill</a:t>
            </a:r>
            <a:b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Top Up</a:t>
            </a:r>
            <a:endParaRPr sz="8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40"/>
          <p:cNvSpPr/>
          <p:nvPr/>
        </p:nvSpPr>
        <p:spPr>
          <a:xfrm>
            <a:off x="7186546" y="4149838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Loan/ Crowdfunding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5" name="Google Shape;835;p40"/>
          <p:cNvSpPr/>
          <p:nvPr/>
        </p:nvSpPr>
        <p:spPr>
          <a:xfrm>
            <a:off x="2881856" y="2897481"/>
            <a:ext cx="1174800" cy="364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16275" tIns="116275" rIns="116275" bIns="11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Reminder</a:t>
            </a:r>
            <a:b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SMS</a:t>
            </a: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6" name="Google Shape;8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40">
            <a:hlinkClick r:id="rId4"/>
          </p:cNvPr>
          <p:cNvSpPr txBox="1"/>
          <p:nvPr/>
        </p:nvSpPr>
        <p:spPr>
          <a:xfrm flipH="1">
            <a:off x="4368350" y="4930475"/>
            <a:ext cx="44916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8" name="Google Shape;83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6513" y="1143199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8837" y="1143199"/>
            <a:ext cx="420826" cy="420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0" name="Google Shape;840;p40"/>
          <p:cNvGrpSpPr/>
          <p:nvPr/>
        </p:nvGrpSpPr>
        <p:grpSpPr>
          <a:xfrm>
            <a:off x="5411171" y="1143194"/>
            <a:ext cx="420824" cy="420835"/>
            <a:chOff x="2698481" y="3581375"/>
            <a:chExt cx="492250" cy="492262"/>
          </a:xfrm>
        </p:grpSpPr>
        <p:pic>
          <p:nvPicPr>
            <p:cNvPr id="841" name="Google Shape;841;p4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698481" y="3581375"/>
              <a:ext cx="492250" cy="49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" name="Google Shape;842;p40"/>
            <p:cNvSpPr/>
            <p:nvPr/>
          </p:nvSpPr>
          <p:spPr>
            <a:xfrm>
              <a:off x="2978975" y="3870825"/>
              <a:ext cx="185700" cy="185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43" name="Google Shape;843;p40"/>
            <p:cNvPicPr preferRelativeResize="0"/>
            <p:nvPr/>
          </p:nvPicPr>
          <p:blipFill rotWithShape="1">
            <a:blip r:embed="rId9">
              <a:alphaModFix/>
            </a:blip>
            <a:srcRect r="8324" b="8333"/>
            <a:stretch/>
          </p:blipFill>
          <p:spPr>
            <a:xfrm>
              <a:off x="2938377" y="3831825"/>
              <a:ext cx="241823" cy="241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4" name="Google Shape;844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63534" y="1143199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4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6513" y="2450800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4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58835" y="2450800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11125" y="2450800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4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63534" y="2450800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40"/>
          <p:cNvPicPr preferRelativeResize="0"/>
          <p:nvPr/>
        </p:nvPicPr>
        <p:blipFill rotWithShape="1">
          <a:blip r:embed="rId15">
            <a:alphaModFix/>
          </a:blip>
          <a:srcRect l="32197" t="15993" r="32068" b="16007"/>
          <a:stretch/>
        </p:blipFill>
        <p:spPr>
          <a:xfrm>
            <a:off x="1106525" y="3729457"/>
            <a:ext cx="420825" cy="42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40"/>
          <p:cNvPicPr preferRelativeResize="0"/>
          <p:nvPr/>
        </p:nvPicPr>
        <p:blipFill rotWithShape="1">
          <a:blip r:embed="rId16">
            <a:alphaModFix/>
          </a:blip>
          <a:srcRect l="14872" t="9280" r="12044" b="9027"/>
          <a:stretch/>
        </p:blipFill>
        <p:spPr>
          <a:xfrm>
            <a:off x="3258862" y="3679452"/>
            <a:ext cx="420824" cy="47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11195" y="3729075"/>
            <a:ext cx="420826" cy="42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4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563534" y="3729036"/>
            <a:ext cx="420826" cy="42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40"/>
          <p:cNvPicPr preferRelativeResize="0"/>
          <p:nvPr/>
        </p:nvPicPr>
        <p:blipFill rotWithShape="1">
          <a:blip r:embed="rId15">
            <a:alphaModFix/>
          </a:blip>
          <a:srcRect l="32197" t="15993" r="32068" b="16007"/>
          <a:stretch/>
        </p:blipFill>
        <p:spPr>
          <a:xfrm>
            <a:off x="1106525" y="3723657"/>
            <a:ext cx="420825" cy="42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0"/>
          <p:cNvPicPr preferRelativeResize="0"/>
          <p:nvPr/>
        </p:nvPicPr>
        <p:blipFill rotWithShape="1">
          <a:blip r:embed="rId16">
            <a:alphaModFix/>
          </a:blip>
          <a:srcRect l="14872" t="9280" r="12044" b="9027"/>
          <a:stretch/>
        </p:blipFill>
        <p:spPr>
          <a:xfrm>
            <a:off x="3258862" y="3673652"/>
            <a:ext cx="420824" cy="47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4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11195" y="3723275"/>
            <a:ext cx="420826" cy="42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4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563534" y="3723236"/>
            <a:ext cx="420826" cy="42082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64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Possible Future Products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36" name="Google Shape;1436;p64"/>
          <p:cNvCxnSpPr/>
          <p:nvPr/>
        </p:nvCxnSpPr>
        <p:spPr>
          <a:xfrm>
            <a:off x="342050" y="727525"/>
            <a:ext cx="8517900" cy="0"/>
          </a:xfrm>
          <a:prstGeom prst="straightConnector1">
            <a:avLst/>
          </a:prstGeom>
          <a:noFill/>
          <a:ln w="19050" cap="flat" cmpd="sng">
            <a:solidFill>
              <a:srgbClr val="EC1B2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64"/>
          <p:cNvSpPr txBox="1">
            <a:spLocks noGrp="1"/>
          </p:cNvSpPr>
          <p:nvPr>
            <p:ph type="body" idx="1"/>
          </p:nvPr>
        </p:nvSpPr>
        <p:spPr>
          <a:xfrm>
            <a:off x="311700" y="759975"/>
            <a:ext cx="8520600" cy="3633000"/>
          </a:xfrm>
          <a:prstGeom prst="rect">
            <a:avLst/>
          </a:prstGeom>
        </p:spPr>
        <p:txBody>
          <a:bodyPr spcFirstLastPara="1" wrap="square" lIns="92525" tIns="92525" rIns="92525" bIns="92525" anchor="t" anchorCtr="0">
            <a:normAutofit/>
          </a:bodyPr>
          <a:lstStyle/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Calling (CRM)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Engaging with Outlet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STO &amp; PO Demand Forecasting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Vendor Management &amp; Reporting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Procurement Management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Category Management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Building Data Collection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Retail Automation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Management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Meeting Scheduler Platform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38" name="Google Shape;1438;p64"/>
          <p:cNvGrpSpPr/>
          <p:nvPr/>
        </p:nvGrpSpPr>
        <p:grpSpPr>
          <a:xfrm>
            <a:off x="-1423830" y="3757478"/>
            <a:ext cx="2844862" cy="2732428"/>
            <a:chOff x="7399350" y="3319325"/>
            <a:chExt cx="2742300" cy="2742300"/>
          </a:xfrm>
        </p:grpSpPr>
        <p:sp>
          <p:nvSpPr>
            <p:cNvPr id="1439" name="Google Shape;1439;p64"/>
            <p:cNvSpPr/>
            <p:nvPr/>
          </p:nvSpPr>
          <p:spPr>
            <a:xfrm>
              <a:off x="7399350" y="3319325"/>
              <a:ext cx="2742300" cy="27423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2350" tIns="92350" rIns="92350" bIns="923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7743900" y="3663875"/>
              <a:ext cx="2053200" cy="2053200"/>
            </a:xfrm>
            <a:prstGeom prst="ellipse">
              <a:avLst/>
            </a:prstGeom>
            <a:solidFill>
              <a:srgbClr val="EC1B21"/>
            </a:solidFill>
            <a:ln>
              <a:noFill/>
            </a:ln>
          </p:spPr>
          <p:txBody>
            <a:bodyPr spcFirstLastPara="1" wrap="square" lIns="92350" tIns="92350" rIns="92350" bIns="923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441" name="Google Shape;1441;p64">
            <a:hlinkClick r:id="rId3"/>
          </p:cNvPr>
          <p:cNvSpPr txBox="1"/>
          <p:nvPr/>
        </p:nvSpPr>
        <p:spPr>
          <a:xfrm flipH="1">
            <a:off x="4368290" y="4930479"/>
            <a:ext cx="44640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50" tIns="72750" rIns="72750" bIns="727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2" name="Google Shape;1442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7018" y="365100"/>
            <a:ext cx="442934" cy="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64"/>
          <p:cNvPicPr preferRelativeResize="0"/>
          <p:nvPr/>
        </p:nvPicPr>
        <p:blipFill rotWithShape="1">
          <a:blip r:embed="rId6">
            <a:alphaModFix/>
          </a:blip>
          <a:srcRect r="10698" b="13644"/>
          <a:stretch/>
        </p:blipFill>
        <p:spPr>
          <a:xfrm>
            <a:off x="4910725" y="2338925"/>
            <a:ext cx="3949224" cy="254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2525" tIns="92525" rIns="92525" bIns="925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4229BE4-E258-D9AF-96E4-C0244A257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98"/>
            <a:ext cx="9144000" cy="5140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080B9D-A667-4552-B337-88C690E3A1CE}"/>
              </a:ext>
            </a:extLst>
          </p:cNvPr>
          <p:cNvSpPr txBox="1"/>
          <p:nvPr/>
        </p:nvSpPr>
        <p:spPr>
          <a:xfrm>
            <a:off x="320820" y="280787"/>
            <a:ext cx="457459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ClrTx/>
              <a:defRPr/>
            </a:pPr>
            <a:r>
              <a:rPr lang="en-US" sz="3300" b="1" kern="1200" dirty="0">
                <a:latin typeface="Poppins Bold" panose="00000800000000000000" pitchFamily="2" charset="0"/>
                <a:cs typeface="Poppins Bold" panose="00000800000000000000" pitchFamily="2" charset="0"/>
              </a:rPr>
              <a:t>Store 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224A8-88C9-4990-A9FB-6E3BEA080DFF}"/>
              </a:ext>
            </a:extLst>
          </p:cNvPr>
          <p:cNvSpPr txBox="1"/>
          <p:nvPr/>
        </p:nvSpPr>
        <p:spPr>
          <a:xfrm>
            <a:off x="4793435" y="269331"/>
            <a:ext cx="4316571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7200" b="1" spc="-15" dirty="0">
                <a:solidFill>
                  <a:srgbClr val="CC0000"/>
                </a:solidFill>
              </a:rPr>
              <a:t>408</a:t>
            </a:r>
            <a:endParaRPr lang="en-US" sz="7200" dirty="0"/>
          </a:p>
          <a:p>
            <a:pPr algn="ctr"/>
            <a:r>
              <a:rPr lang="en-US" sz="1650" b="1" dirty="0">
                <a:latin typeface="HelveticaNeueLT Com 55 Roman" panose="020B0604020202020204" pitchFamily="34" charset="0"/>
                <a:cs typeface="Poppins" panose="00000500000000000000" pitchFamily="2" charset="0"/>
              </a:rPr>
              <a:t>New Outlets Will Be Added</a:t>
            </a:r>
            <a:endParaRPr lang="en-US" sz="1650" b="1" dirty="0">
              <a:solidFill>
                <a:srgbClr val="C00000"/>
              </a:solidFill>
              <a:latin typeface="HelveticaNeueLT Com 55 Roman" panose="020B0604020202020204" pitchFamily="34" charset="0"/>
              <a:cs typeface="Poppins" panose="00000500000000000000" pitchFamily="2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D544AEA-3B22-4483-8B7F-133F2C8B90CB}"/>
              </a:ext>
            </a:extLst>
          </p:cNvPr>
          <p:cNvGraphicFramePr>
            <a:graphicFrameLocks/>
          </p:cNvGraphicFramePr>
          <p:nvPr/>
        </p:nvGraphicFramePr>
        <p:xfrm>
          <a:off x="5299967" y="2298521"/>
          <a:ext cx="3245940" cy="1332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9DC51A-EA97-46EE-A6FB-71085FE2335A}"/>
              </a:ext>
            </a:extLst>
          </p:cNvPr>
          <p:cNvSpPr txBox="1"/>
          <p:nvPr/>
        </p:nvSpPr>
        <p:spPr>
          <a:xfrm>
            <a:off x="4847542" y="1928566"/>
            <a:ext cx="420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latin typeface="HelveticaNeueLT Com 55 Roman" panose="020B0604020202020204" pitchFamily="34" charset="0"/>
              </a:rPr>
              <a:t>Monthly Store Opening Run Rate </a:t>
            </a:r>
            <a:r>
              <a:rPr lang="en-US" sz="1200" b="1" dirty="0">
                <a:latin typeface="HelveticaNeueLT Com 55 Roman" panose="020B0604020202020204" pitchFamily="34" charset="0"/>
              </a:rPr>
              <a:t>FY 2025-26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5C9D9A7-37A7-F3CC-86F7-4FAFF77DA055}"/>
              </a:ext>
            </a:extLst>
          </p:cNvPr>
          <p:cNvGraphicFramePr>
            <a:graphicFrameLocks/>
          </p:cNvGraphicFramePr>
          <p:nvPr/>
        </p:nvGraphicFramePr>
        <p:xfrm>
          <a:off x="-277994" y="931543"/>
          <a:ext cx="5173410" cy="2699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1F40AF8-013A-5B8C-7FA3-DA9C56D22214}"/>
              </a:ext>
            </a:extLst>
          </p:cNvPr>
          <p:cNvSpPr txBox="1"/>
          <p:nvPr/>
        </p:nvSpPr>
        <p:spPr>
          <a:xfrm>
            <a:off x="64309" y="3724761"/>
            <a:ext cx="119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900" kern="1200" dirty="0">
                <a:solidFill>
                  <a:prstClr val="black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FY 2023-24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229FA-7E0E-670A-BC94-446A4C6ADE76}"/>
              </a:ext>
            </a:extLst>
          </p:cNvPr>
          <p:cNvSpPr txBox="1"/>
          <p:nvPr/>
        </p:nvSpPr>
        <p:spPr>
          <a:xfrm>
            <a:off x="1717983" y="3724761"/>
            <a:ext cx="119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900" kern="1200" dirty="0">
                <a:solidFill>
                  <a:prstClr val="black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FY 2024-25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2012F4-0B4D-84EB-AA77-169F6C5EE286}"/>
              </a:ext>
            </a:extLst>
          </p:cNvPr>
          <p:cNvSpPr txBox="1"/>
          <p:nvPr/>
        </p:nvSpPr>
        <p:spPr>
          <a:xfrm>
            <a:off x="3378066" y="3724761"/>
            <a:ext cx="119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900" kern="1200" dirty="0">
                <a:solidFill>
                  <a:prstClr val="black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FY 2025-26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8F978A-0B1A-E646-791B-3D79FEE26103}"/>
              </a:ext>
            </a:extLst>
          </p:cNvPr>
          <p:cNvSpPr txBox="1"/>
          <p:nvPr/>
        </p:nvSpPr>
        <p:spPr>
          <a:xfrm>
            <a:off x="248783" y="2275198"/>
            <a:ext cx="8268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1050" b="1" dirty="0">
                <a:solidFill>
                  <a:srgbClr val="C00000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4</a:t>
            </a:r>
            <a:r>
              <a:rPr lang="en-US" sz="1050" b="1" kern="1200" dirty="0">
                <a:solidFill>
                  <a:srgbClr val="C00000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94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3D25FD-0F54-4B50-2F6B-324DF3D8900A}"/>
              </a:ext>
            </a:extLst>
          </p:cNvPr>
          <p:cNvSpPr txBox="1"/>
          <p:nvPr/>
        </p:nvSpPr>
        <p:spPr>
          <a:xfrm>
            <a:off x="1895309" y="1763528"/>
            <a:ext cx="8268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1050" b="1" kern="1200" dirty="0">
                <a:solidFill>
                  <a:srgbClr val="C00000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683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5B8D4-648B-3DCC-7CCC-8156DFAE907F}"/>
              </a:ext>
            </a:extLst>
          </p:cNvPr>
          <p:cNvSpPr txBox="1"/>
          <p:nvPr/>
        </p:nvSpPr>
        <p:spPr>
          <a:xfrm>
            <a:off x="3562540" y="1017728"/>
            <a:ext cx="8268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  <a:defRPr/>
            </a:pPr>
            <a:r>
              <a:rPr lang="en-US" sz="1050" b="1" kern="1200" dirty="0">
                <a:solidFill>
                  <a:srgbClr val="C00000"/>
                </a:solidFill>
                <a:latin typeface="HelveticaNeueLT Com 55 Roman" panose="020B0604020202020204" pitchFamily="34" charset="0"/>
                <a:cs typeface="Poppins" panose="00000500000000000000" pitchFamily="2" charset="0"/>
              </a:rPr>
              <a:t>1,091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E4237-687D-3782-84E8-D6869DC3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5E95-8C87-4531-BA9A-439E29931E2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79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1969</Words>
  <Application>Microsoft Office PowerPoint</Application>
  <PresentationFormat>On-screen Show (16:9)</PresentationFormat>
  <Paragraphs>517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Roboto</vt:lpstr>
      <vt:lpstr>Poppins</vt:lpstr>
      <vt:lpstr>Poppins ExtraLight</vt:lpstr>
      <vt:lpstr>Poppins Bold</vt:lpstr>
      <vt:lpstr>Candara</vt:lpstr>
      <vt:lpstr>HelveticaNeueLT Com 55 Roman</vt:lpstr>
      <vt:lpstr>Arial</vt:lpstr>
      <vt:lpstr>Poppins Light</vt:lpstr>
      <vt:lpstr>Simple Light</vt:lpstr>
      <vt:lpstr>PowerPoint Presentation</vt:lpstr>
      <vt:lpstr>Technology Roadmap (FY 25-26)</vt:lpstr>
      <vt:lpstr>Product Roadmap</vt:lpstr>
      <vt:lpstr>Ongoing Development Tasks</vt:lpstr>
      <vt:lpstr>PowerPoint Presentation</vt:lpstr>
      <vt:lpstr>Operations App v2.1 - Flowchart</vt:lpstr>
      <vt:lpstr>Developed Features</vt:lpstr>
      <vt:lpstr>Beta Testing Features</vt:lpstr>
      <vt:lpstr>In Progress Features</vt:lpstr>
      <vt:lpstr>Operations App v3.0 - New Features</vt:lpstr>
      <vt:lpstr>Operations App - Roadmap</vt:lpstr>
      <vt:lpstr>PowerPoint Presentation</vt:lpstr>
      <vt:lpstr>Shwapno Survey Application</vt:lpstr>
      <vt:lpstr>PowerPoint Presentation</vt:lpstr>
      <vt:lpstr>Fresh Buying v2.0 - Flowchart</vt:lpstr>
      <vt:lpstr>Fresh Buying v2.0 - Objectives</vt:lpstr>
      <vt:lpstr>Fresh Buying v2.0 - Technical Roadmap</vt:lpstr>
      <vt:lpstr>PowerPoint Presentation</vt:lpstr>
      <vt:lpstr>Shwapno Hub</vt:lpstr>
      <vt:lpstr>Ongoing Product Tasks</vt:lpstr>
      <vt:lpstr>PowerPoint Presentation</vt:lpstr>
      <vt:lpstr>Retail Store User Flow Diagram</vt:lpstr>
      <vt:lpstr>Brick &amp; Mortar App - Features</vt:lpstr>
      <vt:lpstr>PowerPoint Presentation</vt:lpstr>
      <vt:lpstr>Concept</vt:lpstr>
      <vt:lpstr>Competitor Services Category</vt:lpstr>
      <vt:lpstr>Our Services/Features</vt:lpstr>
      <vt:lpstr>User Flowchart</vt:lpstr>
      <vt:lpstr>PowerPoint Presentation</vt:lpstr>
      <vt:lpstr>ACI Qurbani Express v1.0 - Features</vt:lpstr>
      <vt:lpstr>Recruitment Project - Roadmap</vt:lpstr>
      <vt:lpstr>Unused Products</vt:lpstr>
      <vt:lpstr>Possible Future Products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Md. Aquib Rashid</cp:lastModifiedBy>
  <cp:revision>1</cp:revision>
  <dcterms:modified xsi:type="dcterms:W3CDTF">2026-09-20T07:10:46Z</dcterms:modified>
</cp:coreProperties>
</file>